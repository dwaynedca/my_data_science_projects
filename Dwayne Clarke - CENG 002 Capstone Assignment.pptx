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56" r:id="rId5"/>
    <p:sldId id="257" r:id="rId6"/>
    <p:sldId id="258" r:id="rId7"/>
    <p:sldId id="263" r:id="rId8"/>
    <p:sldId id="262" r:id="rId9"/>
    <p:sldId id="260" r:id="rId10"/>
    <p:sldId id="259" r:id="rId11"/>
    <p:sldId id="261"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C570D2-7E26-4315-85F3-3BC43074473B}" v="1113" dt="2024-06-20T22:14:00.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0" autoAdjust="0"/>
    <p:restoredTop sz="94660"/>
  </p:normalViewPr>
  <p:slideViewPr>
    <p:cSldViewPr snapToGrid="0">
      <p:cViewPr varScale="1">
        <p:scale>
          <a:sx n="64" d="100"/>
          <a:sy n="64" d="100"/>
        </p:scale>
        <p:origin x="84" y="109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4B5F35-59CE-4635-B3C1-1160D22E518A}"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0BDB9883-B770-4540-80ED-EEDF4EBEC94D}">
      <dgm:prSet/>
      <dgm:spPr/>
      <dgm:t>
        <a:bodyPr/>
        <a:lstStyle/>
        <a:p>
          <a:r>
            <a:rPr lang="en-US"/>
            <a:t>New threats for Warfighter</a:t>
          </a:r>
        </a:p>
      </dgm:t>
    </dgm:pt>
    <dgm:pt modelId="{E89DD443-CC88-4C68-B8AF-4E5E5F9DC9F2}" type="parTrans" cxnId="{FE9290D6-A622-4B74-941B-174FB7D0AE26}">
      <dgm:prSet/>
      <dgm:spPr/>
      <dgm:t>
        <a:bodyPr/>
        <a:lstStyle/>
        <a:p>
          <a:endParaRPr lang="en-US"/>
        </a:p>
      </dgm:t>
    </dgm:pt>
    <dgm:pt modelId="{921AC172-D2A5-4F52-8B39-001040B9587B}" type="sibTrans" cxnId="{FE9290D6-A622-4B74-941B-174FB7D0AE26}">
      <dgm:prSet/>
      <dgm:spPr/>
      <dgm:t>
        <a:bodyPr/>
        <a:lstStyle/>
        <a:p>
          <a:endParaRPr lang="en-US"/>
        </a:p>
      </dgm:t>
    </dgm:pt>
    <dgm:pt modelId="{BDB07283-E14F-41A5-9AA4-36D5B3ABBA5E}">
      <dgm:prSet/>
      <dgm:spPr/>
      <dgm:t>
        <a:bodyPr/>
        <a:lstStyle/>
        <a:p>
          <a:r>
            <a:rPr lang="en-US"/>
            <a:t>Many current employees are retiring</a:t>
          </a:r>
        </a:p>
      </dgm:t>
    </dgm:pt>
    <dgm:pt modelId="{7ACEC2C3-321D-42C0-BAE8-251491E7D846}" type="parTrans" cxnId="{1CF18AA8-518F-419C-828B-B613380D8C63}">
      <dgm:prSet/>
      <dgm:spPr/>
      <dgm:t>
        <a:bodyPr/>
        <a:lstStyle/>
        <a:p>
          <a:endParaRPr lang="en-US"/>
        </a:p>
      </dgm:t>
    </dgm:pt>
    <dgm:pt modelId="{FAD706A2-F498-4AD2-93D5-1EEC9DADF24E}" type="sibTrans" cxnId="{1CF18AA8-518F-419C-828B-B613380D8C63}">
      <dgm:prSet/>
      <dgm:spPr/>
      <dgm:t>
        <a:bodyPr/>
        <a:lstStyle/>
        <a:p>
          <a:endParaRPr lang="en-US"/>
        </a:p>
      </dgm:t>
    </dgm:pt>
    <dgm:pt modelId="{6CA98A91-E976-4B33-AA5A-1CE2731A7DE0}">
      <dgm:prSet/>
      <dgm:spPr/>
      <dgm:t>
        <a:bodyPr/>
        <a:lstStyle/>
        <a:p>
          <a:r>
            <a:rPr lang="en-US"/>
            <a:t>Employees leaving within 6 months of being hire</a:t>
          </a:r>
        </a:p>
      </dgm:t>
    </dgm:pt>
    <dgm:pt modelId="{C1C83F6A-66B2-4876-A7D0-98DBA6BFE500}" type="parTrans" cxnId="{B237D531-F962-4174-895F-A16F0A3193B9}">
      <dgm:prSet/>
      <dgm:spPr/>
      <dgm:t>
        <a:bodyPr/>
        <a:lstStyle/>
        <a:p>
          <a:endParaRPr lang="en-US"/>
        </a:p>
      </dgm:t>
    </dgm:pt>
    <dgm:pt modelId="{36720849-3099-4382-B64C-86DBEC6301A6}" type="sibTrans" cxnId="{B237D531-F962-4174-895F-A16F0A3193B9}">
      <dgm:prSet/>
      <dgm:spPr/>
      <dgm:t>
        <a:bodyPr/>
        <a:lstStyle/>
        <a:p>
          <a:endParaRPr lang="en-US"/>
        </a:p>
      </dgm:t>
    </dgm:pt>
    <dgm:pt modelId="{46E8B3A8-3F24-4A4F-810B-64931D169092}">
      <dgm:prSet/>
      <dgm:spPr/>
      <dgm:t>
        <a:bodyPr/>
        <a:lstStyle/>
        <a:p>
          <a:r>
            <a:rPr lang="en-US"/>
            <a:t>Losing Subject Matter Expert (SME)</a:t>
          </a:r>
        </a:p>
      </dgm:t>
    </dgm:pt>
    <dgm:pt modelId="{CC24D084-2C9B-4E1F-96F6-38593245AAB3}" type="parTrans" cxnId="{8A14D036-B25C-4AE6-87FC-0663DE007091}">
      <dgm:prSet/>
      <dgm:spPr/>
      <dgm:t>
        <a:bodyPr/>
        <a:lstStyle/>
        <a:p>
          <a:endParaRPr lang="en-US"/>
        </a:p>
      </dgm:t>
    </dgm:pt>
    <dgm:pt modelId="{FAC4CB8C-08C9-454C-99DD-6A413F63D367}" type="sibTrans" cxnId="{8A14D036-B25C-4AE6-87FC-0663DE007091}">
      <dgm:prSet/>
      <dgm:spPr/>
      <dgm:t>
        <a:bodyPr/>
        <a:lstStyle/>
        <a:p>
          <a:endParaRPr lang="en-US"/>
        </a:p>
      </dgm:t>
    </dgm:pt>
    <dgm:pt modelId="{6A01FA61-8C03-4088-9514-2A071FF4338A}">
      <dgm:prSet/>
      <dgm:spPr/>
      <dgm:t>
        <a:bodyPr/>
        <a:lstStyle/>
        <a:p>
          <a:r>
            <a:rPr lang="en-US"/>
            <a:t>Work Shortage</a:t>
          </a:r>
        </a:p>
      </dgm:t>
    </dgm:pt>
    <dgm:pt modelId="{B2938A05-43B2-49F7-A7B1-39A3AE315B18}" type="parTrans" cxnId="{8E238E00-C952-43F0-A381-E5ED70014E54}">
      <dgm:prSet/>
      <dgm:spPr/>
      <dgm:t>
        <a:bodyPr/>
        <a:lstStyle/>
        <a:p>
          <a:endParaRPr lang="en-US"/>
        </a:p>
      </dgm:t>
    </dgm:pt>
    <dgm:pt modelId="{90222188-E3CC-4A76-ADB4-E9656ED75C69}" type="sibTrans" cxnId="{8E238E00-C952-43F0-A381-E5ED70014E54}">
      <dgm:prSet/>
      <dgm:spPr/>
      <dgm:t>
        <a:bodyPr/>
        <a:lstStyle/>
        <a:p>
          <a:endParaRPr lang="en-US"/>
        </a:p>
      </dgm:t>
    </dgm:pt>
    <dgm:pt modelId="{4F8D172D-8907-4D89-8F78-8DC8A5BA3D21}" type="pres">
      <dgm:prSet presAssocID="{944B5F35-59CE-4635-B3C1-1160D22E518A}" presName="linear" presStyleCnt="0">
        <dgm:presLayoutVars>
          <dgm:animLvl val="lvl"/>
          <dgm:resizeHandles val="exact"/>
        </dgm:presLayoutVars>
      </dgm:prSet>
      <dgm:spPr/>
    </dgm:pt>
    <dgm:pt modelId="{04E7A1E9-3146-436C-AA8E-636EB863FE75}" type="pres">
      <dgm:prSet presAssocID="{0BDB9883-B770-4540-80ED-EEDF4EBEC94D}" presName="parentText" presStyleLbl="node1" presStyleIdx="0" presStyleCnt="5">
        <dgm:presLayoutVars>
          <dgm:chMax val="0"/>
          <dgm:bulletEnabled val="1"/>
        </dgm:presLayoutVars>
      </dgm:prSet>
      <dgm:spPr/>
    </dgm:pt>
    <dgm:pt modelId="{F91FA796-2A40-4506-B934-201BA80CCC8E}" type="pres">
      <dgm:prSet presAssocID="{921AC172-D2A5-4F52-8B39-001040B9587B}" presName="spacer" presStyleCnt="0"/>
      <dgm:spPr/>
    </dgm:pt>
    <dgm:pt modelId="{E2BB3768-8AD6-4593-AFC5-BE9B07D0FC75}" type="pres">
      <dgm:prSet presAssocID="{BDB07283-E14F-41A5-9AA4-36D5B3ABBA5E}" presName="parentText" presStyleLbl="node1" presStyleIdx="1" presStyleCnt="5">
        <dgm:presLayoutVars>
          <dgm:chMax val="0"/>
          <dgm:bulletEnabled val="1"/>
        </dgm:presLayoutVars>
      </dgm:prSet>
      <dgm:spPr/>
    </dgm:pt>
    <dgm:pt modelId="{7F358C55-B4CA-4EA8-ABA6-0315A19E2B4F}" type="pres">
      <dgm:prSet presAssocID="{FAD706A2-F498-4AD2-93D5-1EEC9DADF24E}" presName="spacer" presStyleCnt="0"/>
      <dgm:spPr/>
    </dgm:pt>
    <dgm:pt modelId="{DBC64950-5CA7-4400-AD50-8BB8B2C827E5}" type="pres">
      <dgm:prSet presAssocID="{6CA98A91-E976-4B33-AA5A-1CE2731A7DE0}" presName="parentText" presStyleLbl="node1" presStyleIdx="2" presStyleCnt="5">
        <dgm:presLayoutVars>
          <dgm:chMax val="0"/>
          <dgm:bulletEnabled val="1"/>
        </dgm:presLayoutVars>
      </dgm:prSet>
      <dgm:spPr/>
    </dgm:pt>
    <dgm:pt modelId="{139F6231-99E2-4E7C-BE99-95E149F69503}" type="pres">
      <dgm:prSet presAssocID="{36720849-3099-4382-B64C-86DBEC6301A6}" presName="spacer" presStyleCnt="0"/>
      <dgm:spPr/>
    </dgm:pt>
    <dgm:pt modelId="{F62DB05F-A86D-46B2-B387-9CBBA9CAB167}" type="pres">
      <dgm:prSet presAssocID="{46E8B3A8-3F24-4A4F-810B-64931D169092}" presName="parentText" presStyleLbl="node1" presStyleIdx="3" presStyleCnt="5">
        <dgm:presLayoutVars>
          <dgm:chMax val="0"/>
          <dgm:bulletEnabled val="1"/>
        </dgm:presLayoutVars>
      </dgm:prSet>
      <dgm:spPr/>
    </dgm:pt>
    <dgm:pt modelId="{BD683EC4-F1CE-45CB-A95E-87AEBF7285CD}" type="pres">
      <dgm:prSet presAssocID="{FAC4CB8C-08C9-454C-99DD-6A413F63D367}" presName="spacer" presStyleCnt="0"/>
      <dgm:spPr/>
    </dgm:pt>
    <dgm:pt modelId="{48CF6B63-8BC9-4508-B68F-47EC6027FC17}" type="pres">
      <dgm:prSet presAssocID="{6A01FA61-8C03-4088-9514-2A071FF4338A}" presName="parentText" presStyleLbl="node1" presStyleIdx="4" presStyleCnt="5">
        <dgm:presLayoutVars>
          <dgm:chMax val="0"/>
          <dgm:bulletEnabled val="1"/>
        </dgm:presLayoutVars>
      </dgm:prSet>
      <dgm:spPr/>
    </dgm:pt>
  </dgm:ptLst>
  <dgm:cxnLst>
    <dgm:cxn modelId="{8E238E00-C952-43F0-A381-E5ED70014E54}" srcId="{944B5F35-59CE-4635-B3C1-1160D22E518A}" destId="{6A01FA61-8C03-4088-9514-2A071FF4338A}" srcOrd="4" destOrd="0" parTransId="{B2938A05-43B2-49F7-A7B1-39A3AE315B18}" sibTransId="{90222188-E3CC-4A76-ADB4-E9656ED75C69}"/>
    <dgm:cxn modelId="{28F85505-C903-44C5-A3B5-0098E6C5D9B6}" type="presOf" srcId="{BDB07283-E14F-41A5-9AA4-36D5B3ABBA5E}" destId="{E2BB3768-8AD6-4593-AFC5-BE9B07D0FC75}" srcOrd="0" destOrd="0" presId="urn:microsoft.com/office/officeart/2005/8/layout/vList2"/>
    <dgm:cxn modelId="{0DC39315-57CF-4E72-BDEE-95AF4AAD9589}" type="presOf" srcId="{6A01FA61-8C03-4088-9514-2A071FF4338A}" destId="{48CF6B63-8BC9-4508-B68F-47EC6027FC17}" srcOrd="0" destOrd="0" presId="urn:microsoft.com/office/officeart/2005/8/layout/vList2"/>
    <dgm:cxn modelId="{B237D531-F962-4174-895F-A16F0A3193B9}" srcId="{944B5F35-59CE-4635-B3C1-1160D22E518A}" destId="{6CA98A91-E976-4B33-AA5A-1CE2731A7DE0}" srcOrd="2" destOrd="0" parTransId="{C1C83F6A-66B2-4876-A7D0-98DBA6BFE500}" sibTransId="{36720849-3099-4382-B64C-86DBEC6301A6}"/>
    <dgm:cxn modelId="{8A14D036-B25C-4AE6-87FC-0663DE007091}" srcId="{944B5F35-59CE-4635-B3C1-1160D22E518A}" destId="{46E8B3A8-3F24-4A4F-810B-64931D169092}" srcOrd="3" destOrd="0" parTransId="{CC24D084-2C9B-4E1F-96F6-38593245AAB3}" sibTransId="{FAC4CB8C-08C9-454C-99DD-6A413F63D367}"/>
    <dgm:cxn modelId="{1545BE40-ACB4-4B25-B5B3-D47A7035E81A}" type="presOf" srcId="{0BDB9883-B770-4540-80ED-EEDF4EBEC94D}" destId="{04E7A1E9-3146-436C-AA8E-636EB863FE75}" srcOrd="0" destOrd="0" presId="urn:microsoft.com/office/officeart/2005/8/layout/vList2"/>
    <dgm:cxn modelId="{75016859-1A99-47F5-8BC5-E8EEE9CD81C1}" type="presOf" srcId="{6CA98A91-E976-4B33-AA5A-1CE2731A7DE0}" destId="{DBC64950-5CA7-4400-AD50-8BB8B2C827E5}" srcOrd="0" destOrd="0" presId="urn:microsoft.com/office/officeart/2005/8/layout/vList2"/>
    <dgm:cxn modelId="{7AB3728E-63FA-42A6-AE4C-8ED428C4A277}" type="presOf" srcId="{944B5F35-59CE-4635-B3C1-1160D22E518A}" destId="{4F8D172D-8907-4D89-8F78-8DC8A5BA3D21}" srcOrd="0" destOrd="0" presId="urn:microsoft.com/office/officeart/2005/8/layout/vList2"/>
    <dgm:cxn modelId="{1CF18AA8-518F-419C-828B-B613380D8C63}" srcId="{944B5F35-59CE-4635-B3C1-1160D22E518A}" destId="{BDB07283-E14F-41A5-9AA4-36D5B3ABBA5E}" srcOrd="1" destOrd="0" parTransId="{7ACEC2C3-321D-42C0-BAE8-251491E7D846}" sibTransId="{FAD706A2-F498-4AD2-93D5-1EEC9DADF24E}"/>
    <dgm:cxn modelId="{393011AD-8EDC-4D79-99B2-A8C38D6DA032}" type="presOf" srcId="{46E8B3A8-3F24-4A4F-810B-64931D169092}" destId="{F62DB05F-A86D-46B2-B387-9CBBA9CAB167}" srcOrd="0" destOrd="0" presId="urn:microsoft.com/office/officeart/2005/8/layout/vList2"/>
    <dgm:cxn modelId="{FE9290D6-A622-4B74-941B-174FB7D0AE26}" srcId="{944B5F35-59CE-4635-B3C1-1160D22E518A}" destId="{0BDB9883-B770-4540-80ED-EEDF4EBEC94D}" srcOrd="0" destOrd="0" parTransId="{E89DD443-CC88-4C68-B8AF-4E5E5F9DC9F2}" sibTransId="{921AC172-D2A5-4F52-8B39-001040B9587B}"/>
    <dgm:cxn modelId="{5FE62410-1DC2-4FFF-AAD6-1F466721663F}" type="presParOf" srcId="{4F8D172D-8907-4D89-8F78-8DC8A5BA3D21}" destId="{04E7A1E9-3146-436C-AA8E-636EB863FE75}" srcOrd="0" destOrd="0" presId="urn:microsoft.com/office/officeart/2005/8/layout/vList2"/>
    <dgm:cxn modelId="{09338DF6-CF94-4371-84FE-BA869C05B78D}" type="presParOf" srcId="{4F8D172D-8907-4D89-8F78-8DC8A5BA3D21}" destId="{F91FA796-2A40-4506-B934-201BA80CCC8E}" srcOrd="1" destOrd="0" presId="urn:microsoft.com/office/officeart/2005/8/layout/vList2"/>
    <dgm:cxn modelId="{9CCC13C7-2CCF-44D1-850E-C9B0075E90A7}" type="presParOf" srcId="{4F8D172D-8907-4D89-8F78-8DC8A5BA3D21}" destId="{E2BB3768-8AD6-4593-AFC5-BE9B07D0FC75}" srcOrd="2" destOrd="0" presId="urn:microsoft.com/office/officeart/2005/8/layout/vList2"/>
    <dgm:cxn modelId="{5D0EA233-4218-4F18-B4DE-F4B272E95815}" type="presParOf" srcId="{4F8D172D-8907-4D89-8F78-8DC8A5BA3D21}" destId="{7F358C55-B4CA-4EA8-ABA6-0315A19E2B4F}" srcOrd="3" destOrd="0" presId="urn:microsoft.com/office/officeart/2005/8/layout/vList2"/>
    <dgm:cxn modelId="{33A0EEEC-1A61-463B-8217-E9192BF984AA}" type="presParOf" srcId="{4F8D172D-8907-4D89-8F78-8DC8A5BA3D21}" destId="{DBC64950-5CA7-4400-AD50-8BB8B2C827E5}" srcOrd="4" destOrd="0" presId="urn:microsoft.com/office/officeart/2005/8/layout/vList2"/>
    <dgm:cxn modelId="{30A46664-192B-4DD0-8158-8BB695785D1E}" type="presParOf" srcId="{4F8D172D-8907-4D89-8F78-8DC8A5BA3D21}" destId="{139F6231-99E2-4E7C-BE99-95E149F69503}" srcOrd="5" destOrd="0" presId="urn:microsoft.com/office/officeart/2005/8/layout/vList2"/>
    <dgm:cxn modelId="{855D7EBE-803C-4017-A8B9-5F0F69CF4D20}" type="presParOf" srcId="{4F8D172D-8907-4D89-8F78-8DC8A5BA3D21}" destId="{F62DB05F-A86D-46B2-B387-9CBBA9CAB167}" srcOrd="6" destOrd="0" presId="urn:microsoft.com/office/officeart/2005/8/layout/vList2"/>
    <dgm:cxn modelId="{428664FA-9BE4-48F8-8AA4-EF87A91F6C74}" type="presParOf" srcId="{4F8D172D-8907-4D89-8F78-8DC8A5BA3D21}" destId="{BD683EC4-F1CE-45CB-A95E-87AEBF7285CD}" srcOrd="7" destOrd="0" presId="urn:microsoft.com/office/officeart/2005/8/layout/vList2"/>
    <dgm:cxn modelId="{1F7A2862-03F5-4B73-9F83-25B4BA927BC8}" type="presParOf" srcId="{4F8D172D-8907-4D89-8F78-8DC8A5BA3D21}" destId="{48CF6B63-8BC9-4508-B68F-47EC6027FC1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CE8419-D5EA-43B8-9B1D-D93F44B4945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8D6887B-DEB0-4935-A63A-C42326397CF0}">
      <dgm:prSet/>
      <dgm:spPr/>
      <dgm:t>
        <a:bodyPr/>
        <a:lstStyle/>
        <a:p>
          <a:pPr>
            <a:lnSpc>
              <a:spcPct val="100000"/>
            </a:lnSpc>
          </a:pPr>
          <a:r>
            <a:rPr lang="en-US" i="1" dirty="0"/>
            <a:t>Data Science Manager: DOD interacts, commination with all of parties from HR, Teams, and upper management to make sure all information is accuracy. </a:t>
          </a:r>
          <a:endParaRPr lang="en-US" dirty="0"/>
        </a:p>
      </dgm:t>
    </dgm:pt>
    <dgm:pt modelId="{62BCE1E7-D4CE-421D-B40B-D31DD2700690}" type="parTrans" cxnId="{8A89ED4E-2EC5-48D8-8055-948060123B44}">
      <dgm:prSet/>
      <dgm:spPr/>
      <dgm:t>
        <a:bodyPr/>
        <a:lstStyle/>
        <a:p>
          <a:endParaRPr lang="en-US"/>
        </a:p>
      </dgm:t>
    </dgm:pt>
    <dgm:pt modelId="{34EE095B-2512-4512-899D-711DBAD77728}" type="sibTrans" cxnId="{8A89ED4E-2EC5-48D8-8055-948060123B44}">
      <dgm:prSet/>
      <dgm:spPr/>
      <dgm:t>
        <a:bodyPr/>
        <a:lstStyle/>
        <a:p>
          <a:endParaRPr lang="en-US"/>
        </a:p>
      </dgm:t>
    </dgm:pt>
    <dgm:pt modelId="{5CBC9F5C-C0F1-4997-973A-C9E96A6D7A9C}">
      <dgm:prSet/>
      <dgm:spPr/>
      <dgm:t>
        <a:bodyPr/>
        <a:lstStyle/>
        <a:p>
          <a:pPr>
            <a:lnSpc>
              <a:spcPct val="100000"/>
            </a:lnSpc>
          </a:pPr>
          <a:r>
            <a:rPr lang="en-US" i="1" dirty="0"/>
            <a:t>Data Engineer: DOD build the hardware requirement needed to construct a database, from the information on HR and Teams for retentive data.</a:t>
          </a:r>
          <a:endParaRPr lang="en-US" dirty="0"/>
        </a:p>
      </dgm:t>
    </dgm:pt>
    <dgm:pt modelId="{19612E49-AB95-4F92-8E2B-5E601039F4EB}" type="parTrans" cxnId="{0153A0E1-3E96-4BF8-8305-2335FEF3724F}">
      <dgm:prSet/>
      <dgm:spPr/>
      <dgm:t>
        <a:bodyPr/>
        <a:lstStyle/>
        <a:p>
          <a:endParaRPr lang="en-US"/>
        </a:p>
      </dgm:t>
    </dgm:pt>
    <dgm:pt modelId="{EDC5641A-D051-4C51-9F56-E6940A1328DF}" type="sibTrans" cxnId="{0153A0E1-3E96-4BF8-8305-2335FEF3724F}">
      <dgm:prSet/>
      <dgm:spPr/>
      <dgm:t>
        <a:bodyPr/>
        <a:lstStyle/>
        <a:p>
          <a:endParaRPr lang="en-US"/>
        </a:p>
      </dgm:t>
    </dgm:pt>
    <dgm:pt modelId="{0A7CBDAB-0D2A-4379-A2B3-3C3897603C4B}">
      <dgm:prSet custT="1"/>
      <dgm:spPr/>
      <dgm:t>
        <a:bodyPr/>
        <a:lstStyle/>
        <a:p>
          <a:pPr>
            <a:lnSpc>
              <a:spcPct val="100000"/>
            </a:lnSpc>
          </a:pPr>
          <a:r>
            <a:rPr lang="en-US" sz="1600" i="1" kern="1200" dirty="0">
              <a:solidFill>
                <a:prstClr val="black">
                  <a:hueOff val="0"/>
                  <a:satOff val="0"/>
                  <a:lumOff val="0"/>
                  <a:alphaOff val="0"/>
                </a:prstClr>
              </a:solidFill>
              <a:latin typeface="Garamond" panose="02020404030301010803"/>
              <a:ea typeface="+mn-ea"/>
              <a:cs typeface="+mn-cs"/>
            </a:rPr>
            <a:t>Data Scientists: DOD will clean and analyze data from data engineer database on information from HR and Teams on employee.</a:t>
          </a:r>
        </a:p>
      </dgm:t>
    </dgm:pt>
    <dgm:pt modelId="{07864CAB-A3AD-4079-81C2-8540CE654227}" type="parTrans" cxnId="{47F8F0D5-ED2F-43F9-B4B9-D879E3147FE0}">
      <dgm:prSet/>
      <dgm:spPr/>
      <dgm:t>
        <a:bodyPr/>
        <a:lstStyle/>
        <a:p>
          <a:endParaRPr lang="en-US"/>
        </a:p>
      </dgm:t>
    </dgm:pt>
    <dgm:pt modelId="{31CEE19F-7D49-4B32-852B-25B8470145F0}" type="sibTrans" cxnId="{47F8F0D5-ED2F-43F9-B4B9-D879E3147FE0}">
      <dgm:prSet/>
      <dgm:spPr/>
      <dgm:t>
        <a:bodyPr/>
        <a:lstStyle/>
        <a:p>
          <a:endParaRPr lang="en-US"/>
        </a:p>
      </dgm:t>
    </dgm:pt>
    <dgm:pt modelId="{4EC249A6-7132-4042-9754-9636E78AE99C}" type="pres">
      <dgm:prSet presAssocID="{43CE8419-D5EA-43B8-9B1D-D93F44B49454}" presName="root" presStyleCnt="0">
        <dgm:presLayoutVars>
          <dgm:dir/>
          <dgm:resizeHandles val="exact"/>
        </dgm:presLayoutVars>
      </dgm:prSet>
      <dgm:spPr/>
    </dgm:pt>
    <dgm:pt modelId="{FA80FE6E-100A-48E9-826E-42E4017EB038}" type="pres">
      <dgm:prSet presAssocID="{58D6887B-DEB0-4935-A63A-C42326397CF0}" presName="compNode" presStyleCnt="0"/>
      <dgm:spPr/>
    </dgm:pt>
    <dgm:pt modelId="{31E19CEF-80CB-4910-8607-E0DD136FBD24}" type="pres">
      <dgm:prSet presAssocID="{58D6887B-DEB0-4935-A63A-C42326397CF0}" presName="bgRect" presStyleLbl="bgShp" presStyleIdx="0" presStyleCnt="3"/>
      <dgm:spPr/>
    </dgm:pt>
    <dgm:pt modelId="{20204854-4511-47E1-97AA-2CA976C34A14}" type="pres">
      <dgm:prSet presAssocID="{58D6887B-DEB0-4935-A63A-C42326397CF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1B7BDC12-EC97-43E9-8E02-A05F569A5389}" type="pres">
      <dgm:prSet presAssocID="{58D6887B-DEB0-4935-A63A-C42326397CF0}" presName="spaceRect" presStyleCnt="0"/>
      <dgm:spPr/>
    </dgm:pt>
    <dgm:pt modelId="{090B4143-2EAB-4FF4-9318-6029E8636338}" type="pres">
      <dgm:prSet presAssocID="{58D6887B-DEB0-4935-A63A-C42326397CF0}" presName="parTx" presStyleLbl="revTx" presStyleIdx="0" presStyleCnt="3">
        <dgm:presLayoutVars>
          <dgm:chMax val="0"/>
          <dgm:chPref val="0"/>
        </dgm:presLayoutVars>
      </dgm:prSet>
      <dgm:spPr/>
    </dgm:pt>
    <dgm:pt modelId="{9BA70742-01F7-4B11-B838-814BD1F4D1FB}" type="pres">
      <dgm:prSet presAssocID="{34EE095B-2512-4512-899D-711DBAD77728}" presName="sibTrans" presStyleCnt="0"/>
      <dgm:spPr/>
    </dgm:pt>
    <dgm:pt modelId="{3BCC4DE8-CB69-4240-BDAE-B7A712ABB144}" type="pres">
      <dgm:prSet presAssocID="{5CBC9F5C-C0F1-4997-973A-C9E96A6D7A9C}" presName="compNode" presStyleCnt="0"/>
      <dgm:spPr/>
    </dgm:pt>
    <dgm:pt modelId="{BA84FD0C-176E-42F9-94CF-FEC2DEB8C103}" type="pres">
      <dgm:prSet presAssocID="{5CBC9F5C-C0F1-4997-973A-C9E96A6D7A9C}" presName="bgRect" presStyleLbl="bgShp" presStyleIdx="1" presStyleCnt="3" custLinFactNeighborX="-31509" custLinFactNeighborY="1415"/>
      <dgm:spPr/>
    </dgm:pt>
    <dgm:pt modelId="{82B07C12-6BEE-480C-843D-9E0C1D6F2198}" type="pres">
      <dgm:prSet presAssocID="{5CBC9F5C-C0F1-4997-973A-C9E96A6D7A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lder"/>
        </a:ext>
      </dgm:extLst>
    </dgm:pt>
    <dgm:pt modelId="{416C8F58-DFFA-4FED-BA4A-FBA52BFFF477}" type="pres">
      <dgm:prSet presAssocID="{5CBC9F5C-C0F1-4997-973A-C9E96A6D7A9C}" presName="spaceRect" presStyleCnt="0"/>
      <dgm:spPr/>
    </dgm:pt>
    <dgm:pt modelId="{93D1126D-7CEB-405A-939A-3E5B9147B136}" type="pres">
      <dgm:prSet presAssocID="{5CBC9F5C-C0F1-4997-973A-C9E96A6D7A9C}" presName="parTx" presStyleLbl="revTx" presStyleIdx="1" presStyleCnt="3">
        <dgm:presLayoutVars>
          <dgm:chMax val="0"/>
          <dgm:chPref val="0"/>
        </dgm:presLayoutVars>
      </dgm:prSet>
      <dgm:spPr/>
    </dgm:pt>
    <dgm:pt modelId="{D631EA81-445B-42EE-BC45-47869AFFADF9}" type="pres">
      <dgm:prSet presAssocID="{EDC5641A-D051-4C51-9F56-E6940A1328DF}" presName="sibTrans" presStyleCnt="0"/>
      <dgm:spPr/>
    </dgm:pt>
    <dgm:pt modelId="{5A37A3E2-A634-4789-B900-72EF29495C70}" type="pres">
      <dgm:prSet presAssocID="{0A7CBDAB-0D2A-4379-A2B3-3C3897603C4B}" presName="compNode" presStyleCnt="0"/>
      <dgm:spPr/>
    </dgm:pt>
    <dgm:pt modelId="{E80A1466-D694-407B-AF93-CCC67310BD01}" type="pres">
      <dgm:prSet presAssocID="{0A7CBDAB-0D2A-4379-A2B3-3C3897603C4B}" presName="bgRect" presStyleLbl="bgShp" presStyleIdx="2" presStyleCnt="3"/>
      <dgm:spPr/>
    </dgm:pt>
    <dgm:pt modelId="{FDFBE1DB-2ED2-46C9-9AD2-0C25F4099E30}" type="pres">
      <dgm:prSet presAssocID="{0A7CBDAB-0D2A-4379-A2B3-3C3897603C4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aduation Cap"/>
        </a:ext>
      </dgm:extLst>
    </dgm:pt>
    <dgm:pt modelId="{AD8A5066-6153-4CC8-A5B0-6675E0FA1070}" type="pres">
      <dgm:prSet presAssocID="{0A7CBDAB-0D2A-4379-A2B3-3C3897603C4B}" presName="spaceRect" presStyleCnt="0"/>
      <dgm:spPr/>
    </dgm:pt>
    <dgm:pt modelId="{83F96D00-9914-488E-9EAF-640900CF59F7}" type="pres">
      <dgm:prSet presAssocID="{0A7CBDAB-0D2A-4379-A2B3-3C3897603C4B}" presName="parTx" presStyleLbl="revTx" presStyleIdx="2" presStyleCnt="3">
        <dgm:presLayoutVars>
          <dgm:chMax val="0"/>
          <dgm:chPref val="0"/>
        </dgm:presLayoutVars>
      </dgm:prSet>
      <dgm:spPr/>
    </dgm:pt>
  </dgm:ptLst>
  <dgm:cxnLst>
    <dgm:cxn modelId="{5BD87A1B-A376-4C53-A825-5B4D64A7C729}" type="presOf" srcId="{43CE8419-D5EA-43B8-9B1D-D93F44B49454}" destId="{4EC249A6-7132-4042-9754-9636E78AE99C}" srcOrd="0" destOrd="0" presId="urn:microsoft.com/office/officeart/2018/2/layout/IconVerticalSolidList"/>
    <dgm:cxn modelId="{E61B6E44-4FF6-4CEF-9AA1-3C3D4E062CCA}" type="presOf" srcId="{58D6887B-DEB0-4935-A63A-C42326397CF0}" destId="{090B4143-2EAB-4FF4-9318-6029E8636338}" srcOrd="0" destOrd="0" presId="urn:microsoft.com/office/officeart/2018/2/layout/IconVerticalSolidList"/>
    <dgm:cxn modelId="{8A89ED4E-2EC5-48D8-8055-948060123B44}" srcId="{43CE8419-D5EA-43B8-9B1D-D93F44B49454}" destId="{58D6887B-DEB0-4935-A63A-C42326397CF0}" srcOrd="0" destOrd="0" parTransId="{62BCE1E7-D4CE-421D-B40B-D31DD2700690}" sibTransId="{34EE095B-2512-4512-899D-711DBAD77728}"/>
    <dgm:cxn modelId="{ECF108A7-A217-48A9-AA12-46F7E6AD654E}" type="presOf" srcId="{0A7CBDAB-0D2A-4379-A2B3-3C3897603C4B}" destId="{83F96D00-9914-488E-9EAF-640900CF59F7}" srcOrd="0" destOrd="0" presId="urn:microsoft.com/office/officeart/2018/2/layout/IconVerticalSolidList"/>
    <dgm:cxn modelId="{47F8F0D5-ED2F-43F9-B4B9-D879E3147FE0}" srcId="{43CE8419-D5EA-43B8-9B1D-D93F44B49454}" destId="{0A7CBDAB-0D2A-4379-A2B3-3C3897603C4B}" srcOrd="2" destOrd="0" parTransId="{07864CAB-A3AD-4079-81C2-8540CE654227}" sibTransId="{31CEE19F-7D49-4B32-852B-25B8470145F0}"/>
    <dgm:cxn modelId="{0153A0E1-3E96-4BF8-8305-2335FEF3724F}" srcId="{43CE8419-D5EA-43B8-9B1D-D93F44B49454}" destId="{5CBC9F5C-C0F1-4997-973A-C9E96A6D7A9C}" srcOrd="1" destOrd="0" parTransId="{19612E49-AB95-4F92-8E2B-5E601039F4EB}" sibTransId="{EDC5641A-D051-4C51-9F56-E6940A1328DF}"/>
    <dgm:cxn modelId="{3C935CEE-3E34-4D5D-BF26-C547A9790D88}" type="presOf" srcId="{5CBC9F5C-C0F1-4997-973A-C9E96A6D7A9C}" destId="{93D1126D-7CEB-405A-939A-3E5B9147B136}" srcOrd="0" destOrd="0" presId="urn:microsoft.com/office/officeart/2018/2/layout/IconVerticalSolidList"/>
    <dgm:cxn modelId="{4BB19397-42FC-49F1-BA1C-67403673BED7}" type="presParOf" srcId="{4EC249A6-7132-4042-9754-9636E78AE99C}" destId="{FA80FE6E-100A-48E9-826E-42E4017EB038}" srcOrd="0" destOrd="0" presId="urn:microsoft.com/office/officeart/2018/2/layout/IconVerticalSolidList"/>
    <dgm:cxn modelId="{05844F98-9241-4AEE-831D-BD525BFC68E4}" type="presParOf" srcId="{FA80FE6E-100A-48E9-826E-42E4017EB038}" destId="{31E19CEF-80CB-4910-8607-E0DD136FBD24}" srcOrd="0" destOrd="0" presId="urn:microsoft.com/office/officeart/2018/2/layout/IconVerticalSolidList"/>
    <dgm:cxn modelId="{17D2454E-6036-4195-B270-85A175C01FC9}" type="presParOf" srcId="{FA80FE6E-100A-48E9-826E-42E4017EB038}" destId="{20204854-4511-47E1-97AA-2CA976C34A14}" srcOrd="1" destOrd="0" presId="urn:microsoft.com/office/officeart/2018/2/layout/IconVerticalSolidList"/>
    <dgm:cxn modelId="{32A89C6E-AE5D-4C6A-9114-EA51E6F73398}" type="presParOf" srcId="{FA80FE6E-100A-48E9-826E-42E4017EB038}" destId="{1B7BDC12-EC97-43E9-8E02-A05F569A5389}" srcOrd="2" destOrd="0" presId="urn:microsoft.com/office/officeart/2018/2/layout/IconVerticalSolidList"/>
    <dgm:cxn modelId="{C7E20CD2-1F64-414E-B811-72D4FDEC10E1}" type="presParOf" srcId="{FA80FE6E-100A-48E9-826E-42E4017EB038}" destId="{090B4143-2EAB-4FF4-9318-6029E8636338}" srcOrd="3" destOrd="0" presId="urn:microsoft.com/office/officeart/2018/2/layout/IconVerticalSolidList"/>
    <dgm:cxn modelId="{EFAB3473-74F3-4334-844B-D842A50C14B2}" type="presParOf" srcId="{4EC249A6-7132-4042-9754-9636E78AE99C}" destId="{9BA70742-01F7-4B11-B838-814BD1F4D1FB}" srcOrd="1" destOrd="0" presId="urn:microsoft.com/office/officeart/2018/2/layout/IconVerticalSolidList"/>
    <dgm:cxn modelId="{499FC19B-03E4-4D7B-A1DB-EC0AF7A6B289}" type="presParOf" srcId="{4EC249A6-7132-4042-9754-9636E78AE99C}" destId="{3BCC4DE8-CB69-4240-BDAE-B7A712ABB144}" srcOrd="2" destOrd="0" presId="urn:microsoft.com/office/officeart/2018/2/layout/IconVerticalSolidList"/>
    <dgm:cxn modelId="{950C9DDA-84EC-42A2-B4B0-F3B39EC563C1}" type="presParOf" srcId="{3BCC4DE8-CB69-4240-BDAE-B7A712ABB144}" destId="{BA84FD0C-176E-42F9-94CF-FEC2DEB8C103}" srcOrd="0" destOrd="0" presId="urn:microsoft.com/office/officeart/2018/2/layout/IconVerticalSolidList"/>
    <dgm:cxn modelId="{FF1CD154-A93D-468A-9A73-BE332391FE46}" type="presParOf" srcId="{3BCC4DE8-CB69-4240-BDAE-B7A712ABB144}" destId="{82B07C12-6BEE-480C-843D-9E0C1D6F2198}" srcOrd="1" destOrd="0" presId="urn:microsoft.com/office/officeart/2018/2/layout/IconVerticalSolidList"/>
    <dgm:cxn modelId="{8EFC7F52-E45B-434C-90B3-2D2F3E97BD5B}" type="presParOf" srcId="{3BCC4DE8-CB69-4240-BDAE-B7A712ABB144}" destId="{416C8F58-DFFA-4FED-BA4A-FBA52BFFF477}" srcOrd="2" destOrd="0" presId="urn:microsoft.com/office/officeart/2018/2/layout/IconVerticalSolidList"/>
    <dgm:cxn modelId="{7EA90924-FA82-433C-B18B-55297393EB2F}" type="presParOf" srcId="{3BCC4DE8-CB69-4240-BDAE-B7A712ABB144}" destId="{93D1126D-7CEB-405A-939A-3E5B9147B136}" srcOrd="3" destOrd="0" presId="urn:microsoft.com/office/officeart/2018/2/layout/IconVerticalSolidList"/>
    <dgm:cxn modelId="{1E8E4DF4-EE77-4AD6-A199-CC76EC716107}" type="presParOf" srcId="{4EC249A6-7132-4042-9754-9636E78AE99C}" destId="{D631EA81-445B-42EE-BC45-47869AFFADF9}" srcOrd="3" destOrd="0" presId="urn:microsoft.com/office/officeart/2018/2/layout/IconVerticalSolidList"/>
    <dgm:cxn modelId="{B18C3A7E-1778-4BD0-8B3C-966FFDD73DCD}" type="presParOf" srcId="{4EC249A6-7132-4042-9754-9636E78AE99C}" destId="{5A37A3E2-A634-4789-B900-72EF29495C70}" srcOrd="4" destOrd="0" presId="urn:microsoft.com/office/officeart/2018/2/layout/IconVerticalSolidList"/>
    <dgm:cxn modelId="{EA08140C-9F8D-4F60-ABF5-9889A58D5424}" type="presParOf" srcId="{5A37A3E2-A634-4789-B900-72EF29495C70}" destId="{E80A1466-D694-407B-AF93-CCC67310BD01}" srcOrd="0" destOrd="0" presId="urn:microsoft.com/office/officeart/2018/2/layout/IconVerticalSolidList"/>
    <dgm:cxn modelId="{57C5645D-00D8-4215-91BE-11869134A70B}" type="presParOf" srcId="{5A37A3E2-A634-4789-B900-72EF29495C70}" destId="{FDFBE1DB-2ED2-46C9-9AD2-0C25F4099E30}" srcOrd="1" destOrd="0" presId="urn:microsoft.com/office/officeart/2018/2/layout/IconVerticalSolidList"/>
    <dgm:cxn modelId="{9DBC29CA-BB9D-4287-B921-8A9B5F1D2E44}" type="presParOf" srcId="{5A37A3E2-A634-4789-B900-72EF29495C70}" destId="{AD8A5066-6153-4CC8-A5B0-6675E0FA1070}" srcOrd="2" destOrd="0" presId="urn:microsoft.com/office/officeart/2018/2/layout/IconVerticalSolidList"/>
    <dgm:cxn modelId="{CDD5725F-923B-4E6A-AA54-2A4904432094}" type="presParOf" srcId="{5A37A3E2-A634-4789-B900-72EF29495C70}" destId="{83F96D00-9914-488E-9EAF-640900CF59F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3BBBF5-59EE-409A-BAB8-761940EBB3F4}"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C200B4A-4648-4020-BEE6-FD1900BD170A}">
      <dgm:prSet/>
      <dgm:spPr/>
      <dgm:t>
        <a:bodyPr/>
        <a:lstStyle/>
        <a:p>
          <a:pPr>
            <a:defRPr b="1"/>
          </a:pPr>
          <a:r>
            <a:rPr lang="en-US"/>
            <a:t>First, We may need to get more data on employee but base on what we have it a good question and can be answer with exploratory data descriptive analysis. We will most likely used general framework and used machine learning on retentive employees.</a:t>
          </a:r>
        </a:p>
      </dgm:t>
    </dgm:pt>
    <dgm:pt modelId="{02CDFAF6-6AE2-4C11-BB9C-7CB1F90F3916}" type="parTrans" cxnId="{B653B9F2-97BF-4D81-8CDD-6F52A2BFBDCE}">
      <dgm:prSet/>
      <dgm:spPr/>
      <dgm:t>
        <a:bodyPr/>
        <a:lstStyle/>
        <a:p>
          <a:endParaRPr lang="en-US"/>
        </a:p>
      </dgm:t>
    </dgm:pt>
    <dgm:pt modelId="{30FB3E35-701A-483B-8FAD-716214BF0476}" type="sibTrans" cxnId="{B653B9F2-97BF-4D81-8CDD-6F52A2BFBDCE}">
      <dgm:prSet/>
      <dgm:spPr/>
      <dgm:t>
        <a:bodyPr/>
        <a:lstStyle/>
        <a:p>
          <a:endParaRPr lang="en-US"/>
        </a:p>
      </dgm:t>
    </dgm:pt>
    <dgm:pt modelId="{FC365BAC-DAB1-4D6E-B471-77B6C7CEC09B}">
      <dgm:prSet/>
      <dgm:spPr/>
      <dgm:t>
        <a:bodyPr/>
        <a:lstStyle/>
        <a:p>
          <a:pPr>
            <a:defRPr b="1"/>
          </a:pPr>
          <a:r>
            <a:rPr lang="en-US" dirty="0"/>
            <a:t>Second, We will need technology such as Excel or MySQL for the database for the Data Engineer to build from that Data Science will used python, MySQL, Excel and R to clean and filter out the data. Once that is complete will create dashboard presentation of our solution on </a:t>
          </a:r>
          <a:r>
            <a:rPr lang="en-US" dirty="0" err="1"/>
            <a:t>PowerBi</a:t>
          </a:r>
          <a:r>
            <a:rPr lang="en-US" dirty="0"/>
            <a:t>.</a:t>
          </a:r>
        </a:p>
      </dgm:t>
    </dgm:pt>
    <dgm:pt modelId="{52E6CF59-0D89-4E95-88FC-ACCFD67BAD5E}" type="parTrans" cxnId="{ED7BAAD4-4D0D-43E1-8656-E3F9611CCEEC}">
      <dgm:prSet/>
      <dgm:spPr/>
      <dgm:t>
        <a:bodyPr/>
        <a:lstStyle/>
        <a:p>
          <a:endParaRPr lang="en-US"/>
        </a:p>
      </dgm:t>
    </dgm:pt>
    <dgm:pt modelId="{FD8FD2F7-E660-4355-877B-43ECD0B6AD1D}" type="sibTrans" cxnId="{ED7BAAD4-4D0D-43E1-8656-E3F9611CCEEC}">
      <dgm:prSet/>
      <dgm:spPr/>
      <dgm:t>
        <a:bodyPr/>
        <a:lstStyle/>
        <a:p>
          <a:endParaRPr lang="en-US"/>
        </a:p>
      </dgm:t>
    </dgm:pt>
    <dgm:pt modelId="{5252E32F-F3EA-45DC-A003-176E007F0239}">
      <dgm:prSet/>
      <dgm:spPr/>
      <dgm:t>
        <a:bodyPr/>
        <a:lstStyle/>
        <a:p>
          <a:r>
            <a:rPr lang="en-US"/>
            <a:t>But tools our based on the tool that available for DOD and may change on available.</a:t>
          </a:r>
        </a:p>
      </dgm:t>
    </dgm:pt>
    <dgm:pt modelId="{615545B0-C734-4666-916E-F6026D8BF4D4}" type="parTrans" cxnId="{15070402-5732-47D8-8718-0FDDA9847650}">
      <dgm:prSet/>
      <dgm:spPr/>
      <dgm:t>
        <a:bodyPr/>
        <a:lstStyle/>
        <a:p>
          <a:endParaRPr lang="en-US"/>
        </a:p>
      </dgm:t>
    </dgm:pt>
    <dgm:pt modelId="{746B5690-A3E6-423A-AFAA-4C83A3C27F73}" type="sibTrans" cxnId="{15070402-5732-47D8-8718-0FDDA9847650}">
      <dgm:prSet/>
      <dgm:spPr/>
      <dgm:t>
        <a:bodyPr/>
        <a:lstStyle/>
        <a:p>
          <a:endParaRPr lang="en-US"/>
        </a:p>
      </dgm:t>
    </dgm:pt>
    <dgm:pt modelId="{A920AECB-5670-41B5-8CD3-426AA423F559}" type="pres">
      <dgm:prSet presAssocID="{CC3BBBF5-59EE-409A-BAB8-761940EBB3F4}" presName="root" presStyleCnt="0">
        <dgm:presLayoutVars>
          <dgm:dir/>
          <dgm:resizeHandles val="exact"/>
        </dgm:presLayoutVars>
      </dgm:prSet>
      <dgm:spPr/>
    </dgm:pt>
    <dgm:pt modelId="{3D140CE3-98CE-4C38-BF0C-25A5ACA86EFA}" type="pres">
      <dgm:prSet presAssocID="{AC200B4A-4648-4020-BEE6-FD1900BD170A}" presName="compNode" presStyleCnt="0"/>
      <dgm:spPr/>
    </dgm:pt>
    <dgm:pt modelId="{BA22B04B-E2A0-4756-AF26-106EF3BB4C37}" type="pres">
      <dgm:prSet presAssocID="{AC200B4A-4648-4020-BEE6-FD1900BD170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B1073C57-6B80-4DCF-8FE0-5BFD215CE359}" type="pres">
      <dgm:prSet presAssocID="{AC200B4A-4648-4020-BEE6-FD1900BD170A}" presName="iconSpace" presStyleCnt="0"/>
      <dgm:spPr/>
    </dgm:pt>
    <dgm:pt modelId="{3F917000-AA1D-45BD-BB47-11755AD5EABB}" type="pres">
      <dgm:prSet presAssocID="{AC200B4A-4648-4020-BEE6-FD1900BD170A}" presName="parTx" presStyleLbl="revTx" presStyleIdx="0" presStyleCnt="4">
        <dgm:presLayoutVars>
          <dgm:chMax val="0"/>
          <dgm:chPref val="0"/>
        </dgm:presLayoutVars>
      </dgm:prSet>
      <dgm:spPr/>
    </dgm:pt>
    <dgm:pt modelId="{205E7384-34EE-4508-A670-D216B1DA24E8}" type="pres">
      <dgm:prSet presAssocID="{AC200B4A-4648-4020-BEE6-FD1900BD170A}" presName="txSpace" presStyleCnt="0"/>
      <dgm:spPr/>
    </dgm:pt>
    <dgm:pt modelId="{4A8BF537-C4C8-48CB-A4C5-505F9C457C35}" type="pres">
      <dgm:prSet presAssocID="{AC200B4A-4648-4020-BEE6-FD1900BD170A}" presName="desTx" presStyleLbl="revTx" presStyleIdx="1" presStyleCnt="4">
        <dgm:presLayoutVars/>
      </dgm:prSet>
      <dgm:spPr/>
    </dgm:pt>
    <dgm:pt modelId="{CAF10B24-BCF6-4415-A4E7-50B495E6E5D5}" type="pres">
      <dgm:prSet presAssocID="{30FB3E35-701A-483B-8FAD-716214BF0476}" presName="sibTrans" presStyleCnt="0"/>
      <dgm:spPr/>
    </dgm:pt>
    <dgm:pt modelId="{816AF999-110F-4A1F-BBB0-21543964241C}" type="pres">
      <dgm:prSet presAssocID="{FC365BAC-DAB1-4D6E-B471-77B6C7CEC09B}" presName="compNode" presStyleCnt="0"/>
      <dgm:spPr/>
    </dgm:pt>
    <dgm:pt modelId="{5078D269-92D6-4926-82E1-30C117FD9221}" type="pres">
      <dgm:prSet presAssocID="{FC365BAC-DAB1-4D6E-B471-77B6C7CEC09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F7D7E5A6-5FF1-49C8-8CF4-AC7DAF641578}" type="pres">
      <dgm:prSet presAssocID="{FC365BAC-DAB1-4D6E-B471-77B6C7CEC09B}" presName="iconSpace" presStyleCnt="0"/>
      <dgm:spPr/>
    </dgm:pt>
    <dgm:pt modelId="{9936EAFA-D8F2-41E9-B932-BB6FB8D29B09}" type="pres">
      <dgm:prSet presAssocID="{FC365BAC-DAB1-4D6E-B471-77B6C7CEC09B}" presName="parTx" presStyleLbl="revTx" presStyleIdx="2" presStyleCnt="4">
        <dgm:presLayoutVars>
          <dgm:chMax val="0"/>
          <dgm:chPref val="0"/>
        </dgm:presLayoutVars>
      </dgm:prSet>
      <dgm:spPr/>
    </dgm:pt>
    <dgm:pt modelId="{2C7E0BC2-DA74-4209-BD28-C02AD568A0C5}" type="pres">
      <dgm:prSet presAssocID="{FC365BAC-DAB1-4D6E-B471-77B6C7CEC09B}" presName="txSpace" presStyleCnt="0"/>
      <dgm:spPr/>
    </dgm:pt>
    <dgm:pt modelId="{3C23A6EB-1020-4C8C-93D4-155D85DE6E85}" type="pres">
      <dgm:prSet presAssocID="{FC365BAC-DAB1-4D6E-B471-77B6C7CEC09B}" presName="desTx" presStyleLbl="revTx" presStyleIdx="3" presStyleCnt="4">
        <dgm:presLayoutVars/>
      </dgm:prSet>
      <dgm:spPr/>
    </dgm:pt>
  </dgm:ptLst>
  <dgm:cxnLst>
    <dgm:cxn modelId="{15070402-5732-47D8-8718-0FDDA9847650}" srcId="{FC365BAC-DAB1-4D6E-B471-77B6C7CEC09B}" destId="{5252E32F-F3EA-45DC-A003-176E007F0239}" srcOrd="0" destOrd="0" parTransId="{615545B0-C734-4666-916E-F6026D8BF4D4}" sibTransId="{746B5690-A3E6-423A-AFAA-4C83A3C27F73}"/>
    <dgm:cxn modelId="{3E4F7F0E-608B-46B3-86F8-D7DE7BEE12CB}" type="presOf" srcId="{5252E32F-F3EA-45DC-A003-176E007F0239}" destId="{3C23A6EB-1020-4C8C-93D4-155D85DE6E85}" srcOrd="0" destOrd="0" presId="urn:microsoft.com/office/officeart/2018/2/layout/IconLabelDescriptionList"/>
    <dgm:cxn modelId="{5D378018-E126-4ED4-9FC8-FC9B0E9DC017}" type="presOf" srcId="{AC200B4A-4648-4020-BEE6-FD1900BD170A}" destId="{3F917000-AA1D-45BD-BB47-11755AD5EABB}" srcOrd="0" destOrd="0" presId="urn:microsoft.com/office/officeart/2018/2/layout/IconLabelDescriptionList"/>
    <dgm:cxn modelId="{ED7BAAD4-4D0D-43E1-8656-E3F9611CCEEC}" srcId="{CC3BBBF5-59EE-409A-BAB8-761940EBB3F4}" destId="{FC365BAC-DAB1-4D6E-B471-77B6C7CEC09B}" srcOrd="1" destOrd="0" parTransId="{52E6CF59-0D89-4E95-88FC-ACCFD67BAD5E}" sibTransId="{FD8FD2F7-E660-4355-877B-43ECD0B6AD1D}"/>
    <dgm:cxn modelId="{9AD2EDDF-BB07-40B8-B249-7FBC71437C7B}" type="presOf" srcId="{FC365BAC-DAB1-4D6E-B471-77B6C7CEC09B}" destId="{9936EAFA-D8F2-41E9-B932-BB6FB8D29B09}" srcOrd="0" destOrd="0" presId="urn:microsoft.com/office/officeart/2018/2/layout/IconLabelDescriptionList"/>
    <dgm:cxn modelId="{B653B9F2-97BF-4D81-8CDD-6F52A2BFBDCE}" srcId="{CC3BBBF5-59EE-409A-BAB8-761940EBB3F4}" destId="{AC200B4A-4648-4020-BEE6-FD1900BD170A}" srcOrd="0" destOrd="0" parTransId="{02CDFAF6-6AE2-4C11-BB9C-7CB1F90F3916}" sibTransId="{30FB3E35-701A-483B-8FAD-716214BF0476}"/>
    <dgm:cxn modelId="{89FAF1FF-68E7-4A7E-BD29-4E1991A5CB08}" type="presOf" srcId="{CC3BBBF5-59EE-409A-BAB8-761940EBB3F4}" destId="{A920AECB-5670-41B5-8CD3-426AA423F559}" srcOrd="0" destOrd="0" presId="urn:microsoft.com/office/officeart/2018/2/layout/IconLabelDescriptionList"/>
    <dgm:cxn modelId="{E22BBE33-80C8-49C1-AEF0-D2D3AD06C8F8}" type="presParOf" srcId="{A920AECB-5670-41B5-8CD3-426AA423F559}" destId="{3D140CE3-98CE-4C38-BF0C-25A5ACA86EFA}" srcOrd="0" destOrd="0" presId="urn:microsoft.com/office/officeart/2018/2/layout/IconLabelDescriptionList"/>
    <dgm:cxn modelId="{EAEB1ADE-5B11-42C9-A16C-8DC2F1B0E953}" type="presParOf" srcId="{3D140CE3-98CE-4C38-BF0C-25A5ACA86EFA}" destId="{BA22B04B-E2A0-4756-AF26-106EF3BB4C37}" srcOrd="0" destOrd="0" presId="urn:microsoft.com/office/officeart/2018/2/layout/IconLabelDescriptionList"/>
    <dgm:cxn modelId="{2813A42D-05AA-4FC4-BF7A-A77FF869A376}" type="presParOf" srcId="{3D140CE3-98CE-4C38-BF0C-25A5ACA86EFA}" destId="{B1073C57-6B80-4DCF-8FE0-5BFD215CE359}" srcOrd="1" destOrd="0" presId="urn:microsoft.com/office/officeart/2018/2/layout/IconLabelDescriptionList"/>
    <dgm:cxn modelId="{4404F9BC-74E7-47FB-A3B5-0C6083A87FC0}" type="presParOf" srcId="{3D140CE3-98CE-4C38-BF0C-25A5ACA86EFA}" destId="{3F917000-AA1D-45BD-BB47-11755AD5EABB}" srcOrd="2" destOrd="0" presId="urn:microsoft.com/office/officeart/2018/2/layout/IconLabelDescriptionList"/>
    <dgm:cxn modelId="{B00E4B80-C719-4C47-97B1-866C91B3156E}" type="presParOf" srcId="{3D140CE3-98CE-4C38-BF0C-25A5ACA86EFA}" destId="{205E7384-34EE-4508-A670-D216B1DA24E8}" srcOrd="3" destOrd="0" presId="urn:microsoft.com/office/officeart/2018/2/layout/IconLabelDescriptionList"/>
    <dgm:cxn modelId="{F22E35B9-8931-4D99-BB4E-0DD90041A0AE}" type="presParOf" srcId="{3D140CE3-98CE-4C38-BF0C-25A5ACA86EFA}" destId="{4A8BF537-C4C8-48CB-A4C5-505F9C457C35}" srcOrd="4" destOrd="0" presId="urn:microsoft.com/office/officeart/2018/2/layout/IconLabelDescriptionList"/>
    <dgm:cxn modelId="{9F1B82D9-EA6D-454C-B053-211864AB4BE3}" type="presParOf" srcId="{A920AECB-5670-41B5-8CD3-426AA423F559}" destId="{CAF10B24-BCF6-4415-A4E7-50B495E6E5D5}" srcOrd="1" destOrd="0" presId="urn:microsoft.com/office/officeart/2018/2/layout/IconLabelDescriptionList"/>
    <dgm:cxn modelId="{3F9EF4FF-FA17-4860-A2BF-877E56030B83}" type="presParOf" srcId="{A920AECB-5670-41B5-8CD3-426AA423F559}" destId="{816AF999-110F-4A1F-BBB0-21543964241C}" srcOrd="2" destOrd="0" presId="urn:microsoft.com/office/officeart/2018/2/layout/IconLabelDescriptionList"/>
    <dgm:cxn modelId="{3EA4C697-A61B-4938-974A-2D37C1EC052B}" type="presParOf" srcId="{816AF999-110F-4A1F-BBB0-21543964241C}" destId="{5078D269-92D6-4926-82E1-30C117FD9221}" srcOrd="0" destOrd="0" presId="urn:microsoft.com/office/officeart/2018/2/layout/IconLabelDescriptionList"/>
    <dgm:cxn modelId="{02B2A795-0450-44B4-BACE-DD484C8F62CD}" type="presParOf" srcId="{816AF999-110F-4A1F-BBB0-21543964241C}" destId="{F7D7E5A6-5FF1-49C8-8CF4-AC7DAF641578}" srcOrd="1" destOrd="0" presId="urn:microsoft.com/office/officeart/2018/2/layout/IconLabelDescriptionList"/>
    <dgm:cxn modelId="{95A6AC7D-9ED4-4461-9590-0D0A9E6C2E94}" type="presParOf" srcId="{816AF999-110F-4A1F-BBB0-21543964241C}" destId="{9936EAFA-D8F2-41E9-B932-BB6FB8D29B09}" srcOrd="2" destOrd="0" presId="urn:microsoft.com/office/officeart/2018/2/layout/IconLabelDescriptionList"/>
    <dgm:cxn modelId="{3E7352BD-4C36-48DF-B838-552D85C603D7}" type="presParOf" srcId="{816AF999-110F-4A1F-BBB0-21543964241C}" destId="{2C7E0BC2-DA74-4209-BD28-C02AD568A0C5}" srcOrd="3" destOrd="0" presId="urn:microsoft.com/office/officeart/2018/2/layout/IconLabelDescriptionList"/>
    <dgm:cxn modelId="{3B3E5B55-432F-42BF-AEE6-DC5C07F433BC}" type="presParOf" srcId="{816AF999-110F-4A1F-BBB0-21543964241C}" destId="{3C23A6EB-1020-4C8C-93D4-155D85DE6E85}" srcOrd="4" destOrd="0" presId="urn:microsoft.com/office/officeart/2018/2/layout/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E7A1E9-3146-436C-AA8E-636EB863FE75}">
      <dsp:nvSpPr>
        <dsp:cNvPr id="0" name=""/>
        <dsp:cNvSpPr/>
      </dsp:nvSpPr>
      <dsp:spPr>
        <a:xfrm>
          <a:off x="0" y="23721"/>
          <a:ext cx="9601196" cy="514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New threats for Warfighter</a:t>
          </a:r>
        </a:p>
      </dsp:txBody>
      <dsp:txXfrm>
        <a:off x="25130" y="48851"/>
        <a:ext cx="9550936" cy="464540"/>
      </dsp:txXfrm>
    </dsp:sp>
    <dsp:sp modelId="{E2BB3768-8AD6-4593-AFC5-BE9B07D0FC75}">
      <dsp:nvSpPr>
        <dsp:cNvPr id="0" name=""/>
        <dsp:cNvSpPr/>
      </dsp:nvSpPr>
      <dsp:spPr>
        <a:xfrm>
          <a:off x="0" y="601881"/>
          <a:ext cx="9601196" cy="51480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Many current employees are retiring</a:t>
          </a:r>
        </a:p>
      </dsp:txBody>
      <dsp:txXfrm>
        <a:off x="25130" y="627011"/>
        <a:ext cx="9550936" cy="464540"/>
      </dsp:txXfrm>
    </dsp:sp>
    <dsp:sp modelId="{DBC64950-5CA7-4400-AD50-8BB8B2C827E5}">
      <dsp:nvSpPr>
        <dsp:cNvPr id="0" name=""/>
        <dsp:cNvSpPr/>
      </dsp:nvSpPr>
      <dsp:spPr>
        <a:xfrm>
          <a:off x="0" y="1180041"/>
          <a:ext cx="9601196" cy="51480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Employees leaving within 6 months of being hire</a:t>
          </a:r>
        </a:p>
      </dsp:txBody>
      <dsp:txXfrm>
        <a:off x="25130" y="1205171"/>
        <a:ext cx="9550936" cy="464540"/>
      </dsp:txXfrm>
    </dsp:sp>
    <dsp:sp modelId="{F62DB05F-A86D-46B2-B387-9CBBA9CAB167}">
      <dsp:nvSpPr>
        <dsp:cNvPr id="0" name=""/>
        <dsp:cNvSpPr/>
      </dsp:nvSpPr>
      <dsp:spPr>
        <a:xfrm>
          <a:off x="0" y="1758201"/>
          <a:ext cx="9601196" cy="51480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Losing Subject Matter Expert (SME)</a:t>
          </a:r>
        </a:p>
      </dsp:txBody>
      <dsp:txXfrm>
        <a:off x="25130" y="1783331"/>
        <a:ext cx="9550936" cy="464540"/>
      </dsp:txXfrm>
    </dsp:sp>
    <dsp:sp modelId="{48CF6B63-8BC9-4508-B68F-47EC6027FC17}">
      <dsp:nvSpPr>
        <dsp:cNvPr id="0" name=""/>
        <dsp:cNvSpPr/>
      </dsp:nvSpPr>
      <dsp:spPr>
        <a:xfrm>
          <a:off x="0" y="2336361"/>
          <a:ext cx="9601196" cy="514800"/>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Work Shortage</a:t>
          </a:r>
        </a:p>
      </dsp:txBody>
      <dsp:txXfrm>
        <a:off x="25130" y="2361491"/>
        <a:ext cx="9550936" cy="464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E19CEF-80CB-4910-8607-E0DD136FBD24}">
      <dsp:nvSpPr>
        <dsp:cNvPr id="0" name=""/>
        <dsp:cNvSpPr/>
      </dsp:nvSpPr>
      <dsp:spPr>
        <a:xfrm>
          <a:off x="0" y="640"/>
          <a:ext cx="5914209" cy="149925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204854-4511-47E1-97AA-2CA976C34A14}">
      <dsp:nvSpPr>
        <dsp:cNvPr id="0" name=""/>
        <dsp:cNvSpPr/>
      </dsp:nvSpPr>
      <dsp:spPr>
        <a:xfrm>
          <a:off x="453523" y="337971"/>
          <a:ext cx="824587" cy="824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0B4143-2EAB-4FF4-9318-6029E8636338}">
      <dsp:nvSpPr>
        <dsp:cNvPr id="0" name=""/>
        <dsp:cNvSpPr/>
      </dsp:nvSpPr>
      <dsp:spPr>
        <a:xfrm>
          <a:off x="1731633" y="640"/>
          <a:ext cx="4182575"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889000">
            <a:lnSpc>
              <a:spcPct val="100000"/>
            </a:lnSpc>
            <a:spcBef>
              <a:spcPct val="0"/>
            </a:spcBef>
            <a:spcAft>
              <a:spcPct val="35000"/>
            </a:spcAft>
            <a:buNone/>
          </a:pPr>
          <a:r>
            <a:rPr lang="en-US" sz="2000" i="1" kern="1200" dirty="0"/>
            <a:t>Data Science Manager: DOD interacts, commination with all of parties from HR, Teams, and upper management to make sure all information is accuracy. </a:t>
          </a:r>
          <a:endParaRPr lang="en-US" sz="2000" kern="1200" dirty="0"/>
        </a:p>
      </dsp:txBody>
      <dsp:txXfrm>
        <a:off x="1731633" y="640"/>
        <a:ext cx="4182575" cy="1499250"/>
      </dsp:txXfrm>
    </dsp:sp>
    <dsp:sp modelId="{BA84FD0C-176E-42F9-94CF-FEC2DEB8C103}">
      <dsp:nvSpPr>
        <dsp:cNvPr id="0" name=""/>
        <dsp:cNvSpPr/>
      </dsp:nvSpPr>
      <dsp:spPr>
        <a:xfrm>
          <a:off x="0" y="1895917"/>
          <a:ext cx="5914209" cy="149925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B07C12-6BEE-480C-843D-9E0C1D6F2198}">
      <dsp:nvSpPr>
        <dsp:cNvPr id="0" name=""/>
        <dsp:cNvSpPr/>
      </dsp:nvSpPr>
      <dsp:spPr>
        <a:xfrm>
          <a:off x="453523" y="2212034"/>
          <a:ext cx="824587" cy="824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D1126D-7CEB-405A-939A-3E5B9147B136}">
      <dsp:nvSpPr>
        <dsp:cNvPr id="0" name=""/>
        <dsp:cNvSpPr/>
      </dsp:nvSpPr>
      <dsp:spPr>
        <a:xfrm>
          <a:off x="1731633" y="1874703"/>
          <a:ext cx="4182575"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889000">
            <a:lnSpc>
              <a:spcPct val="100000"/>
            </a:lnSpc>
            <a:spcBef>
              <a:spcPct val="0"/>
            </a:spcBef>
            <a:spcAft>
              <a:spcPct val="35000"/>
            </a:spcAft>
            <a:buNone/>
          </a:pPr>
          <a:r>
            <a:rPr lang="en-US" sz="2000" i="1" kern="1200" dirty="0"/>
            <a:t>Data Engineer: DOD build the hardware requirement needed to construct a database, from the information on HR and Teams for retentive data.</a:t>
          </a:r>
          <a:endParaRPr lang="en-US" sz="2000" kern="1200" dirty="0"/>
        </a:p>
      </dsp:txBody>
      <dsp:txXfrm>
        <a:off x="1731633" y="1874703"/>
        <a:ext cx="4182575" cy="1499250"/>
      </dsp:txXfrm>
    </dsp:sp>
    <dsp:sp modelId="{E80A1466-D694-407B-AF93-CCC67310BD01}">
      <dsp:nvSpPr>
        <dsp:cNvPr id="0" name=""/>
        <dsp:cNvSpPr/>
      </dsp:nvSpPr>
      <dsp:spPr>
        <a:xfrm>
          <a:off x="0" y="3748766"/>
          <a:ext cx="5914209" cy="149925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FBE1DB-2ED2-46C9-9AD2-0C25F4099E30}">
      <dsp:nvSpPr>
        <dsp:cNvPr id="0" name=""/>
        <dsp:cNvSpPr/>
      </dsp:nvSpPr>
      <dsp:spPr>
        <a:xfrm>
          <a:off x="453523" y="4086097"/>
          <a:ext cx="824587" cy="824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F96D00-9914-488E-9EAF-640900CF59F7}">
      <dsp:nvSpPr>
        <dsp:cNvPr id="0" name=""/>
        <dsp:cNvSpPr/>
      </dsp:nvSpPr>
      <dsp:spPr>
        <a:xfrm>
          <a:off x="1731633" y="3748766"/>
          <a:ext cx="4182575"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711200">
            <a:lnSpc>
              <a:spcPct val="100000"/>
            </a:lnSpc>
            <a:spcBef>
              <a:spcPct val="0"/>
            </a:spcBef>
            <a:spcAft>
              <a:spcPct val="35000"/>
            </a:spcAft>
            <a:buNone/>
          </a:pPr>
          <a:r>
            <a:rPr lang="en-US" sz="1600" i="1" kern="1200" dirty="0">
              <a:solidFill>
                <a:prstClr val="black">
                  <a:hueOff val="0"/>
                  <a:satOff val="0"/>
                  <a:lumOff val="0"/>
                  <a:alphaOff val="0"/>
                </a:prstClr>
              </a:solidFill>
              <a:latin typeface="Garamond" panose="02020404030301010803"/>
              <a:ea typeface="+mn-ea"/>
              <a:cs typeface="+mn-cs"/>
            </a:rPr>
            <a:t>Data Scientists: DOD will clean and analyze data from data engineer database on information from HR and Teams on employee.</a:t>
          </a:r>
        </a:p>
      </dsp:txBody>
      <dsp:txXfrm>
        <a:off x="1731633" y="3748766"/>
        <a:ext cx="4182575" cy="14992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2B04B-E2A0-4756-AF26-106EF3BB4C37}">
      <dsp:nvSpPr>
        <dsp:cNvPr id="0" name=""/>
        <dsp:cNvSpPr/>
      </dsp:nvSpPr>
      <dsp:spPr>
        <a:xfrm>
          <a:off x="107186" y="40499"/>
          <a:ext cx="1510523" cy="14695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917000-AA1D-45BD-BB47-11755AD5EABB}">
      <dsp:nvSpPr>
        <dsp:cNvPr id="0" name=""/>
        <dsp:cNvSpPr/>
      </dsp:nvSpPr>
      <dsp:spPr>
        <a:xfrm>
          <a:off x="107186" y="1634944"/>
          <a:ext cx="4315781" cy="1052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First, We may need to get more data on employee but base on what we have it a good question and can be answer with exploratory data descriptive analysis. We will most likely used general framework and used machine learning on retentive employees.</a:t>
          </a:r>
        </a:p>
      </dsp:txBody>
      <dsp:txXfrm>
        <a:off x="107186" y="1634944"/>
        <a:ext cx="4315781" cy="1052752"/>
      </dsp:txXfrm>
    </dsp:sp>
    <dsp:sp modelId="{4A8BF537-C4C8-48CB-A4C5-505F9C457C35}">
      <dsp:nvSpPr>
        <dsp:cNvPr id="0" name=""/>
        <dsp:cNvSpPr/>
      </dsp:nvSpPr>
      <dsp:spPr>
        <a:xfrm>
          <a:off x="107186" y="2745790"/>
          <a:ext cx="4315781" cy="199384"/>
        </a:xfrm>
        <a:prstGeom prst="rect">
          <a:avLst/>
        </a:prstGeom>
        <a:noFill/>
        <a:ln>
          <a:noFill/>
        </a:ln>
        <a:effectLst/>
      </dsp:spPr>
      <dsp:style>
        <a:lnRef idx="0">
          <a:scrgbClr r="0" g="0" b="0"/>
        </a:lnRef>
        <a:fillRef idx="0">
          <a:scrgbClr r="0" g="0" b="0"/>
        </a:fillRef>
        <a:effectRef idx="0">
          <a:scrgbClr r="0" g="0" b="0"/>
        </a:effectRef>
        <a:fontRef idx="minor"/>
      </dsp:style>
    </dsp:sp>
    <dsp:sp modelId="{5078D269-92D6-4926-82E1-30C117FD9221}">
      <dsp:nvSpPr>
        <dsp:cNvPr id="0" name=""/>
        <dsp:cNvSpPr/>
      </dsp:nvSpPr>
      <dsp:spPr>
        <a:xfrm>
          <a:off x="5178229" y="40499"/>
          <a:ext cx="1510523" cy="14695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936EAFA-D8F2-41E9-B932-BB6FB8D29B09}">
      <dsp:nvSpPr>
        <dsp:cNvPr id="0" name=""/>
        <dsp:cNvSpPr/>
      </dsp:nvSpPr>
      <dsp:spPr>
        <a:xfrm>
          <a:off x="5178229" y="1634944"/>
          <a:ext cx="4315781" cy="1052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dirty="0"/>
            <a:t>Second, We will need technology such as Excel or MySQL for the database for the Data Engineer to build from that Data Science will used python, MySQL, Excel and R to clean and filter out the data. Once that is complete will create dashboard presentation of our solution on </a:t>
          </a:r>
          <a:r>
            <a:rPr lang="en-US" sz="1400" kern="1200" dirty="0" err="1"/>
            <a:t>PowerBi</a:t>
          </a:r>
          <a:r>
            <a:rPr lang="en-US" sz="1400" kern="1200" dirty="0"/>
            <a:t>.</a:t>
          </a:r>
        </a:p>
      </dsp:txBody>
      <dsp:txXfrm>
        <a:off x="5178229" y="1634944"/>
        <a:ext cx="4315781" cy="1052752"/>
      </dsp:txXfrm>
    </dsp:sp>
    <dsp:sp modelId="{3C23A6EB-1020-4C8C-93D4-155D85DE6E85}">
      <dsp:nvSpPr>
        <dsp:cNvPr id="0" name=""/>
        <dsp:cNvSpPr/>
      </dsp:nvSpPr>
      <dsp:spPr>
        <a:xfrm>
          <a:off x="5178229" y="2745790"/>
          <a:ext cx="4315781" cy="199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But tools our based on the tool that available for DOD and may change on available.</a:t>
          </a:r>
        </a:p>
      </dsp:txBody>
      <dsp:txXfrm>
        <a:off x="5178229" y="2745790"/>
        <a:ext cx="4315781" cy="19938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0C542-3923-491F-B830-BD0BB45CE9F9}"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1F53C7-653B-4F05-874E-65700B55C22C}" type="slidenum">
              <a:rPr lang="en-US" smtClean="0"/>
              <a:t>‹#›</a:t>
            </a:fld>
            <a:endParaRPr lang="en-US"/>
          </a:p>
        </p:txBody>
      </p:sp>
    </p:spTree>
    <p:extLst>
      <p:ext uri="{BB962C8B-B14F-4D97-AF65-F5344CB8AC3E}">
        <p14:creationId xmlns:p14="http://schemas.microsoft.com/office/powerpoint/2010/main" val="3840175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B18019E-2A88-4DDA-8F46-4F669AA2AAC0}" type="datetime1">
              <a:rPr lang="en-US" smtClean="0"/>
              <a:t>4/7/2026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0C8EE4E3-CF32-4F0C-AF39-E804C712200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60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2ECD62-16F5-4B2D-859E-C60E10CD2939}"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spTree>
    <p:extLst>
      <p:ext uri="{BB962C8B-B14F-4D97-AF65-F5344CB8AC3E}">
        <p14:creationId xmlns:p14="http://schemas.microsoft.com/office/powerpoint/2010/main" val="254764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08A654-947F-402B-99D2-077510B8BEC3}"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2431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BC0BB4-769B-40DD-B438-8FAA0FC7624D}" type="datetime1">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EE4E3-CF32-4F0C-AF39-E804C712200F}" type="slidenum">
              <a:rPr lang="en-US" smtClean="0"/>
              <a:t>‹#›</a:t>
            </a:fld>
            <a:endParaRPr lang="en-US"/>
          </a:p>
        </p:txBody>
      </p:sp>
    </p:spTree>
    <p:extLst>
      <p:ext uri="{BB962C8B-B14F-4D97-AF65-F5344CB8AC3E}">
        <p14:creationId xmlns:p14="http://schemas.microsoft.com/office/powerpoint/2010/main" val="2500177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B0235E-78C6-404F-8269-98636E02EF16}" type="datetime1">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8EE4E3-CF32-4F0C-AF39-E804C712200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97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022BB3-DFEC-472B-B401-365BE4E25FB7}" type="datetime1">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8EE4E3-CF32-4F0C-AF39-E804C712200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598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F69980-6909-41B1-99C1-2B4D038E93E8}" type="datetime1">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8EE4E3-CF32-4F0C-AF39-E804C712200F}" type="slidenum">
              <a:rPr lang="en-US" smtClean="0"/>
              <a:t>‹#›</a:t>
            </a:fld>
            <a:endParaRPr lang="en-US"/>
          </a:p>
        </p:txBody>
      </p:sp>
    </p:spTree>
    <p:extLst>
      <p:ext uri="{BB962C8B-B14F-4D97-AF65-F5344CB8AC3E}">
        <p14:creationId xmlns:p14="http://schemas.microsoft.com/office/powerpoint/2010/main" val="100810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EDB365-A646-44F7-8996-3EFC1BD6EE4A}" type="datetime1">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EE4E3-CF32-4F0C-AF39-E804C712200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9077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25F93C-0BFB-4DE1-98DD-04CF674AAE2E}" type="datetime1">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EE4E3-CF32-4F0C-AF39-E804C712200F}" type="slidenum">
              <a:rPr lang="en-US" smtClean="0"/>
              <a:t>‹#›</a:t>
            </a:fld>
            <a:endParaRPr lang="en-US"/>
          </a:p>
        </p:txBody>
      </p:sp>
    </p:spTree>
    <p:extLst>
      <p:ext uri="{BB962C8B-B14F-4D97-AF65-F5344CB8AC3E}">
        <p14:creationId xmlns:p14="http://schemas.microsoft.com/office/powerpoint/2010/main" val="1836422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12D380-77BB-4E8C-B698-A41A1E7AF2E1}" type="datetime1">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EE4E3-CF32-4F0C-AF39-E804C712200F}" type="slidenum">
              <a:rPr lang="en-US" smtClean="0"/>
              <a:t>‹#›</a:t>
            </a:fld>
            <a:endParaRPr lang="en-US"/>
          </a:p>
        </p:txBody>
      </p:sp>
    </p:spTree>
    <p:extLst>
      <p:ext uri="{BB962C8B-B14F-4D97-AF65-F5344CB8AC3E}">
        <p14:creationId xmlns:p14="http://schemas.microsoft.com/office/powerpoint/2010/main" val="426378904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12D380-77BB-4E8C-B698-A41A1E7AF2E1}"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350339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12D380-77BB-4E8C-B698-A41A1E7AF2E1}"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969624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12D380-77BB-4E8C-B698-A41A1E7AF2E1}"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spTree>
    <p:extLst>
      <p:ext uri="{BB962C8B-B14F-4D97-AF65-F5344CB8AC3E}">
        <p14:creationId xmlns:p14="http://schemas.microsoft.com/office/powerpoint/2010/main" val="278606850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12D380-77BB-4E8C-B698-A41A1E7AF2E1}"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16969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12D380-77BB-4E8C-B698-A41A1E7AF2E1}"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75550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BA52F4-3E05-475A-B253-FD4EFD92CB93}"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5816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9452A4-452F-41C4-B1A9-89E63272213C}" type="datetime1">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EE4E3-CF32-4F0C-AF39-E804C712200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962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512D380-77BB-4E8C-B698-A41A1E7AF2E1}" type="datetime1">
              <a:rPr lang="en-US" smtClean="0"/>
              <a:t>4/7/2026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C8EE4E3-CF32-4F0C-AF39-E804C712200F}" type="slidenum">
              <a:rPr lang="en-US" smtClean="0"/>
              <a:t>‹#›</a:t>
            </a:fld>
            <a:endParaRPr lang="en-US"/>
          </a:p>
        </p:txBody>
      </p:sp>
    </p:spTree>
    <p:extLst>
      <p:ext uri="{BB962C8B-B14F-4D97-AF65-F5344CB8AC3E}">
        <p14:creationId xmlns:p14="http://schemas.microsoft.com/office/powerpoint/2010/main" val="10575889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png"/><Relationship Id="rId7" Type="http://schemas.openxmlformats.org/officeDocument/2006/relationships/diagramQuickStyle" Target="../diagrams/quickStyle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4.png"/><Relationship Id="rId9" Type="http://schemas.microsoft.com/office/2007/relationships/diagramDrawing" Target="../diagrams/drawin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0650" y="550863"/>
            <a:ext cx="9144000" cy="2387600"/>
          </a:xfrm>
        </p:spPr>
        <p:txBody>
          <a:bodyPr/>
          <a:lstStyle/>
          <a:p>
            <a:r>
              <a:rPr lang="en-US" dirty="0"/>
              <a:t>NAWCWD Strong</a:t>
            </a:r>
          </a:p>
        </p:txBody>
      </p:sp>
      <p:sp>
        <p:nvSpPr>
          <p:cNvPr id="3" name="Subtitle 2"/>
          <p:cNvSpPr>
            <a:spLocks noGrp="1"/>
          </p:cNvSpPr>
          <p:nvPr>
            <p:ph type="subTitle" idx="1"/>
          </p:nvPr>
        </p:nvSpPr>
        <p:spPr/>
        <p:txBody>
          <a:bodyPr>
            <a:normAutofit lnSpcReduction="10000"/>
          </a:bodyPr>
          <a:lstStyle/>
          <a:p>
            <a:r>
              <a:rPr lang="en-US" dirty="0"/>
              <a:t>Dwayne Clarke</a:t>
            </a:r>
          </a:p>
          <a:p>
            <a:r>
              <a:rPr lang="en-US" dirty="0"/>
              <a:t>Naval Air Warfare Center Weapons Division (NAWCWD)</a:t>
            </a:r>
          </a:p>
          <a:p>
            <a:r>
              <a:rPr lang="en-US" dirty="0"/>
              <a:t>6/20/2024 </a:t>
            </a:r>
          </a:p>
        </p:txBody>
      </p:sp>
      <p:sp>
        <p:nvSpPr>
          <p:cNvPr id="4" name="Slide Number Placeholder 3"/>
          <p:cNvSpPr>
            <a:spLocks noGrp="1"/>
          </p:cNvSpPr>
          <p:nvPr>
            <p:ph type="sldNum" sz="quarter" idx="12"/>
          </p:nvPr>
        </p:nvSpPr>
        <p:spPr/>
        <p:txBody>
          <a:bodyPr/>
          <a:lstStyle/>
          <a:p>
            <a:fld id="{0C8EE4E3-CF32-4F0C-AF39-E804C712200F}" type="slidenum">
              <a:rPr lang="en-US" smtClean="0"/>
              <a:t>1</a:t>
            </a:fld>
            <a:endParaRPr lang="en-US"/>
          </a:p>
        </p:txBody>
      </p:sp>
    </p:spTree>
    <p:extLst>
      <p:ext uri="{BB962C8B-B14F-4D97-AF65-F5344CB8AC3E}">
        <p14:creationId xmlns:p14="http://schemas.microsoft.com/office/powerpoint/2010/main" val="4166554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DFB5D1BB-0703-437B-BD1E-1D07F8A27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26" name="Picture 25">
              <a:extLst>
                <a:ext uri="{FF2B5EF4-FFF2-40B4-BE49-F238E27FC236}">
                  <a16:creationId xmlns:a16="http://schemas.microsoft.com/office/drawing/2014/main" id="{3886586B-3F0F-4593-B272-AE75AD0F09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7" name="Rectangle 26">
              <a:extLst>
                <a:ext uri="{FF2B5EF4-FFF2-40B4-BE49-F238E27FC236}">
                  <a16:creationId xmlns:a16="http://schemas.microsoft.com/office/drawing/2014/main" id="{020DEB59-BF94-41B5-8F16-8B10442EE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8" name="Picture 27">
              <a:extLst>
                <a:ext uri="{FF2B5EF4-FFF2-40B4-BE49-F238E27FC236}">
                  <a16:creationId xmlns:a16="http://schemas.microsoft.com/office/drawing/2014/main" id="{9A3BEF6F-FC03-43B1-8D1B-8DA3A360DB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9" name="Picture 28">
              <a:extLst>
                <a:ext uri="{FF2B5EF4-FFF2-40B4-BE49-F238E27FC236}">
                  <a16:creationId xmlns:a16="http://schemas.microsoft.com/office/drawing/2014/main" id="{0F49BA32-A501-4C79-9A72-92587AB9EE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53" name="Straight Connector 52">
            <a:extLst>
              <a:ext uri="{FF2B5EF4-FFF2-40B4-BE49-F238E27FC236}">
                <a16:creationId xmlns:a16="http://schemas.microsoft.com/office/drawing/2014/main" id="{883F92AF-2403-4558-B1D7-72130A1E4B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useBgFill="1">
        <p:nvSpPr>
          <p:cNvPr id="54" name="Rectangle 53">
            <a:extLst>
              <a:ext uri="{FF2B5EF4-FFF2-40B4-BE49-F238E27FC236}">
                <a16:creationId xmlns:a16="http://schemas.microsoft.com/office/drawing/2014/main" id="{0B78BE18-6882-4FAA-BC8C-CA216E963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1A34F12D-8C0F-46CA-9F4A-D56193C37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88137"/>
            <a:ext cx="11227442" cy="5883295"/>
          </a:xfrm>
          <a:prstGeom prst="rect">
            <a:avLst/>
          </a:prstGeom>
          <a:solidFill>
            <a:schemeClr val="bg2"/>
          </a:solidFill>
          <a:ln>
            <a:noFill/>
          </a:ln>
          <a:effectLst>
            <a:outerShdw blurRad="114300" dist="127000" dir="4800000" sx="99000" sy="99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6" name="Picture 5" descr="Digital financial graph">
            <a:extLst>
              <a:ext uri="{FF2B5EF4-FFF2-40B4-BE49-F238E27FC236}">
                <a16:creationId xmlns:a16="http://schemas.microsoft.com/office/drawing/2014/main" id="{813EFCB5-4C97-8927-9FB5-3F467CC917F2}"/>
              </a:ext>
            </a:extLst>
          </p:cNvPr>
          <p:cNvPicPr>
            <a:picLocks noChangeAspect="1"/>
          </p:cNvPicPr>
          <p:nvPr/>
        </p:nvPicPr>
        <p:blipFill rotWithShape="1">
          <a:blip r:embed="rId5">
            <a:alphaModFix amt="25000"/>
          </a:blip>
          <a:srcRect t="6843" r="1" b="1"/>
          <a:stretch/>
        </p:blipFill>
        <p:spPr>
          <a:xfrm>
            <a:off x="486138" y="486568"/>
            <a:ext cx="11227442" cy="5883295"/>
          </a:xfrm>
          <a:prstGeom prst="rect">
            <a:avLst/>
          </a:prstGeom>
        </p:spPr>
      </p:pic>
      <p:sp>
        <p:nvSpPr>
          <p:cNvPr id="37" name="Rectangle 36">
            <a:extLst>
              <a:ext uri="{FF2B5EF4-FFF2-40B4-BE49-F238E27FC236}">
                <a16:creationId xmlns:a16="http://schemas.microsoft.com/office/drawing/2014/main" id="{F3838012-22B6-4303-8F29-04E1419B3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tx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1295402" y="982132"/>
            <a:ext cx="9601196" cy="1303867"/>
          </a:xfrm>
        </p:spPr>
        <p:txBody>
          <a:bodyPr vert="horz" lIns="91440" tIns="45720" rIns="91440" bIns="45720" rtlCol="0" anchor="ctr">
            <a:normAutofit/>
          </a:bodyPr>
          <a:lstStyle/>
          <a:p>
            <a:r>
              <a:rPr lang="en-US" dirty="0">
                <a:solidFill>
                  <a:schemeClr val="tx1"/>
                </a:solidFill>
              </a:rPr>
              <a:t>Project outline </a:t>
            </a:r>
          </a:p>
        </p:txBody>
      </p:sp>
      <p:cxnSp>
        <p:nvCxnSpPr>
          <p:cNvPr id="56" name="Straight Connector 55">
            <a:extLst>
              <a:ext uri="{FF2B5EF4-FFF2-40B4-BE49-F238E27FC236}">
                <a16:creationId xmlns:a16="http://schemas.microsoft.com/office/drawing/2014/main" id="{AB061FF5-9F81-427C-8DA5-3989395517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2351" y="2421466"/>
            <a:ext cx="9407298" cy="0"/>
          </a:xfrm>
          <a:prstGeom prst="line">
            <a:avLst/>
          </a:prstGeom>
          <a:ln w="158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57" name="Group 56">
            <a:extLst>
              <a:ext uri="{FF2B5EF4-FFF2-40B4-BE49-F238E27FC236}">
                <a16:creationId xmlns:a16="http://schemas.microsoft.com/office/drawing/2014/main" id="{F03F5A17-2CE9-4ADD-9FAF-C1A0BB39CD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288" y="3128956"/>
            <a:ext cx="12234672" cy="658368"/>
            <a:chOff x="-18288" y="3128956"/>
            <a:chExt cx="12234672" cy="658368"/>
          </a:xfrm>
        </p:grpSpPr>
        <p:sp useBgFill="1">
          <p:nvSpPr>
            <p:cNvPr id="42" name="Rounded Rectangle 20">
              <a:extLst>
                <a:ext uri="{FF2B5EF4-FFF2-40B4-BE49-F238E27FC236}">
                  <a16:creationId xmlns:a16="http://schemas.microsoft.com/office/drawing/2014/main" id="{4A88F887-B43E-4CD1-BCE2-739013C68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58" name="Picture 57">
              <a:extLst>
                <a:ext uri="{FF2B5EF4-FFF2-40B4-BE49-F238E27FC236}">
                  <a16:creationId xmlns:a16="http://schemas.microsoft.com/office/drawing/2014/main" id="{2C9D3412-AB4A-4E20-9A79-B2C80D198BC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44" name="Rounded Rectangle 22">
              <a:extLst>
                <a:ext uri="{FF2B5EF4-FFF2-40B4-BE49-F238E27FC236}">
                  <a16:creationId xmlns:a16="http://schemas.microsoft.com/office/drawing/2014/main" id="{A1D7D010-E182-46E6-9264-B39552853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59" name="Picture 58">
              <a:extLst>
                <a:ext uri="{FF2B5EF4-FFF2-40B4-BE49-F238E27FC236}">
                  <a16:creationId xmlns:a16="http://schemas.microsoft.com/office/drawing/2014/main" id="{F4783A7B-2E08-42E4-87EC-EE59B873DFB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
        <p:nvSpPr>
          <p:cNvPr id="4" name="TextBox 3"/>
          <p:cNvSpPr txBox="1"/>
          <p:nvPr/>
        </p:nvSpPr>
        <p:spPr>
          <a:xfrm>
            <a:off x="1295401" y="2556932"/>
            <a:ext cx="9601196" cy="3318936"/>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a:t>Problem Statement</a:t>
            </a:r>
          </a:p>
          <a:p>
            <a:pPr marL="285750" indent="-285750">
              <a:spcBef>
                <a:spcPct val="20000"/>
              </a:spcBef>
              <a:spcAft>
                <a:spcPts val="600"/>
              </a:spcAft>
              <a:buClr>
                <a:schemeClr val="accent1"/>
              </a:buClr>
              <a:buSzPct val="115000"/>
              <a:buFont typeface="Arial"/>
              <a:buChar char="•"/>
            </a:pPr>
            <a:r>
              <a:rPr lang="en-US"/>
              <a:t>Background and Context</a:t>
            </a:r>
          </a:p>
          <a:p>
            <a:pPr marL="285750" indent="-285750">
              <a:spcBef>
                <a:spcPct val="20000"/>
              </a:spcBef>
              <a:spcAft>
                <a:spcPts val="600"/>
              </a:spcAft>
              <a:buClr>
                <a:schemeClr val="accent1"/>
              </a:buClr>
              <a:buSzPct val="115000"/>
              <a:buFont typeface="Arial"/>
              <a:buChar char="•"/>
            </a:pPr>
            <a:r>
              <a:rPr lang="en-US"/>
              <a:t>Project Approach</a:t>
            </a:r>
          </a:p>
          <a:p>
            <a:pPr marL="285750" indent="-285750">
              <a:spcBef>
                <a:spcPct val="20000"/>
              </a:spcBef>
              <a:spcAft>
                <a:spcPts val="600"/>
              </a:spcAft>
              <a:buClr>
                <a:schemeClr val="accent1"/>
              </a:buClr>
              <a:buSzPct val="115000"/>
              <a:buFont typeface="Arial"/>
              <a:buChar char="•"/>
            </a:pPr>
            <a:r>
              <a:rPr lang="en-US"/>
              <a:t>The Data Analytics Team</a:t>
            </a:r>
          </a:p>
          <a:p>
            <a:pPr marL="285750" indent="-285750">
              <a:spcBef>
                <a:spcPct val="20000"/>
              </a:spcBef>
              <a:spcAft>
                <a:spcPts val="600"/>
              </a:spcAft>
              <a:buClr>
                <a:schemeClr val="accent1"/>
              </a:buClr>
              <a:buSzPct val="115000"/>
              <a:buFont typeface="Arial"/>
              <a:buChar char="•"/>
            </a:pPr>
            <a:r>
              <a:rPr lang="en-US"/>
              <a:t>Sources of Data</a:t>
            </a:r>
          </a:p>
          <a:p>
            <a:pPr marL="285750" indent="-285750">
              <a:spcBef>
                <a:spcPct val="20000"/>
              </a:spcBef>
              <a:spcAft>
                <a:spcPts val="600"/>
              </a:spcAft>
              <a:buClr>
                <a:schemeClr val="accent1"/>
              </a:buClr>
              <a:buSzPct val="115000"/>
              <a:buFont typeface="Arial"/>
              <a:buChar char="•"/>
            </a:pPr>
            <a:r>
              <a:rPr lang="en-US"/>
              <a:t>Methods and tools</a:t>
            </a:r>
          </a:p>
          <a:p>
            <a:pPr marL="285750" indent="-285750">
              <a:spcBef>
                <a:spcPct val="20000"/>
              </a:spcBef>
              <a:spcAft>
                <a:spcPts val="600"/>
              </a:spcAft>
              <a:buClr>
                <a:schemeClr val="accent1"/>
              </a:buClr>
              <a:buSzPct val="115000"/>
              <a:buFont typeface="Arial"/>
              <a:buChar char="•"/>
            </a:pPr>
            <a:r>
              <a:rPr lang="en-US"/>
              <a:t>Project timeline and resource requirements</a:t>
            </a:r>
          </a:p>
          <a:p>
            <a:pPr marL="285750" indent="-285750">
              <a:spcBef>
                <a:spcPct val="20000"/>
              </a:spcBef>
              <a:spcAft>
                <a:spcPts val="600"/>
              </a:spcAft>
              <a:buClr>
                <a:schemeClr val="accent1"/>
              </a:buClr>
              <a:buSzPct val="115000"/>
              <a:buFont typeface="Arial"/>
              <a:buChar char="•"/>
            </a:pPr>
            <a:r>
              <a:rPr lang="en-US"/>
              <a:t>Feedback to instructor </a:t>
            </a:r>
          </a:p>
        </p:txBody>
      </p:sp>
      <p:sp>
        <p:nvSpPr>
          <p:cNvPr id="3" name="Slide Number Placeholder 2"/>
          <p:cNvSpPr>
            <a:spLocks noGrp="1"/>
          </p:cNvSpPr>
          <p:nvPr>
            <p:ph type="sldNum" sz="quarter" idx="12"/>
          </p:nvPr>
        </p:nvSpPr>
        <p:spPr>
          <a:xfrm>
            <a:off x="10353901" y="5969000"/>
            <a:ext cx="542697" cy="279400"/>
          </a:xfrm>
        </p:spPr>
        <p:txBody>
          <a:bodyPr vert="horz" lIns="91440" tIns="45720" rIns="91440" bIns="45720" rtlCol="0" anchor="ctr">
            <a:normAutofit/>
          </a:bodyPr>
          <a:lstStyle/>
          <a:p>
            <a:pPr defTabSz="914400">
              <a:spcAft>
                <a:spcPts val="600"/>
              </a:spcAft>
            </a:pPr>
            <a:fld id="{0C8EE4E3-CF32-4F0C-AF39-E804C712200F}" type="slidenum">
              <a:rPr lang="en-US"/>
              <a:pPr defTabSz="914400">
                <a:spcAft>
                  <a:spcPts val="600"/>
                </a:spcAft>
              </a:pPr>
              <a:t>2</a:t>
            </a:fld>
            <a:endParaRPr lang="en-US"/>
          </a:p>
        </p:txBody>
      </p:sp>
      <p:pic>
        <p:nvPicPr>
          <p:cNvPr id="5" name="Picture 4">
            <a:extLst>
              <a:ext uri="{FF2B5EF4-FFF2-40B4-BE49-F238E27FC236}">
                <a16:creationId xmlns:a16="http://schemas.microsoft.com/office/drawing/2014/main" id="{A1509647-7A84-6682-8AD2-D44C3F41F2DB}"/>
              </a:ext>
            </a:extLst>
          </p:cNvPr>
          <p:cNvPicPr>
            <a:picLocks noChangeAspect="1"/>
          </p:cNvPicPr>
          <p:nvPr/>
        </p:nvPicPr>
        <p:blipFill>
          <a:blip r:embed="rId6">
            <a:duotone>
              <a:prstClr val="black"/>
              <a:schemeClr val="accent3">
                <a:lumMod val="60000"/>
                <a:lumOff val="40000"/>
                <a:tint val="45000"/>
                <a:satMod val="400000"/>
              </a:schemeClr>
            </a:duotone>
          </a:blip>
          <a:stretch>
            <a:fillRect/>
          </a:stretch>
        </p:blipFill>
        <p:spPr>
          <a:xfrm>
            <a:off x="7515225" y="3137357"/>
            <a:ext cx="2478049" cy="2478049"/>
          </a:xfrm>
          <a:prstGeom prst="rect">
            <a:avLst/>
          </a:prstGeom>
        </p:spPr>
      </p:pic>
    </p:spTree>
    <p:extLst>
      <p:ext uri="{BB962C8B-B14F-4D97-AF65-F5344CB8AC3E}">
        <p14:creationId xmlns:p14="http://schemas.microsoft.com/office/powerpoint/2010/main" val="42900954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Statement</a:t>
            </a:r>
            <a:endParaRPr lang="en-US" dirty="0"/>
          </a:p>
        </p:txBody>
      </p:sp>
      <p:sp>
        <p:nvSpPr>
          <p:cNvPr id="3" name="Slide Number Placeholder 2"/>
          <p:cNvSpPr>
            <a:spLocks noGrp="1"/>
          </p:cNvSpPr>
          <p:nvPr>
            <p:ph type="sldNum" sz="quarter" idx="12"/>
          </p:nvPr>
        </p:nvSpPr>
        <p:spPr/>
        <p:txBody>
          <a:bodyPr/>
          <a:lstStyle/>
          <a:p>
            <a:fld id="{0C8EE4E3-CF32-4F0C-AF39-E804C712200F}" type="slidenum">
              <a:rPr lang="en-US" smtClean="0"/>
              <a:t>3</a:t>
            </a:fld>
            <a:endParaRPr lang="en-US"/>
          </a:p>
        </p:txBody>
      </p:sp>
      <p:sp>
        <p:nvSpPr>
          <p:cNvPr id="4" name="TextBox 3"/>
          <p:cNvSpPr txBox="1"/>
          <p:nvPr/>
        </p:nvSpPr>
        <p:spPr>
          <a:xfrm>
            <a:off x="961316" y="2736502"/>
            <a:ext cx="9756261" cy="1384995"/>
          </a:xfrm>
          <a:prstGeom prst="rect">
            <a:avLst/>
          </a:prstGeom>
          <a:noFill/>
        </p:spPr>
        <p:txBody>
          <a:bodyPr wrap="none" rtlCol="0">
            <a:spAutoFit/>
          </a:bodyPr>
          <a:lstStyle/>
          <a:p>
            <a:pPr algn="ctr"/>
            <a:r>
              <a:rPr lang="en-US" sz="2800" dirty="0"/>
              <a:t>Descriptive: What historical data highlights the best way to retention </a:t>
            </a:r>
          </a:p>
          <a:p>
            <a:pPr algn="ctr"/>
            <a:r>
              <a:rPr lang="en-US" sz="2800" dirty="0"/>
              <a:t>employees to maximize performance for NAWCWD </a:t>
            </a:r>
          </a:p>
          <a:p>
            <a:pPr algn="ctr"/>
            <a:r>
              <a:rPr lang="en-US" sz="2800" dirty="0"/>
              <a:t>based on past hiring data?</a:t>
            </a:r>
          </a:p>
        </p:txBody>
      </p:sp>
    </p:spTree>
    <p:extLst>
      <p:ext uri="{BB962C8B-B14F-4D97-AF65-F5344CB8AC3E}">
        <p14:creationId xmlns:p14="http://schemas.microsoft.com/office/powerpoint/2010/main" val="3088361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1303867"/>
          </a:xfrm>
        </p:spPr>
        <p:txBody>
          <a:bodyPr>
            <a:normAutofit/>
          </a:bodyPr>
          <a:lstStyle/>
          <a:p>
            <a:r>
              <a:rPr lang="en-US">
                <a:solidFill>
                  <a:srgbClr val="262626"/>
                </a:solidFill>
              </a:rPr>
              <a:t>Background and Context</a:t>
            </a:r>
          </a:p>
        </p:txBody>
      </p:sp>
      <p:sp>
        <p:nvSpPr>
          <p:cNvPr id="3" name="Slide Number Placeholder 2"/>
          <p:cNvSpPr>
            <a:spLocks noGrp="1"/>
          </p:cNvSpPr>
          <p:nvPr>
            <p:ph type="sldNum" sz="quarter" idx="12"/>
          </p:nvPr>
        </p:nvSpPr>
        <p:spPr>
          <a:xfrm>
            <a:off x="10353901" y="5969000"/>
            <a:ext cx="542697" cy="279400"/>
          </a:xfrm>
        </p:spPr>
        <p:txBody>
          <a:bodyPr>
            <a:normAutofit/>
          </a:bodyPr>
          <a:lstStyle/>
          <a:p>
            <a:pPr>
              <a:spcAft>
                <a:spcPts val="600"/>
              </a:spcAft>
            </a:pPr>
            <a:fld id="{0C8EE4E3-CF32-4F0C-AF39-E804C712200F}" type="slidenum">
              <a:rPr lang="en-US">
                <a:solidFill>
                  <a:srgbClr val="000000"/>
                </a:solidFill>
              </a:rPr>
              <a:pPr>
                <a:spcAft>
                  <a:spcPts val="600"/>
                </a:spcAft>
              </a:pPr>
              <a:t>4</a:t>
            </a:fld>
            <a:endParaRPr lang="en-US">
              <a:solidFill>
                <a:srgbClr val="000000"/>
              </a:solidFill>
            </a:endParaRPr>
          </a:p>
        </p:txBody>
      </p:sp>
      <p:graphicFrame>
        <p:nvGraphicFramePr>
          <p:cNvPr id="18" name="Content Placeholder 4">
            <a:extLst>
              <a:ext uri="{FF2B5EF4-FFF2-40B4-BE49-F238E27FC236}">
                <a16:creationId xmlns:a16="http://schemas.microsoft.com/office/drawing/2014/main" id="{44F7B5B4-0CAF-2D08-E618-131BAD290746}"/>
              </a:ext>
            </a:extLst>
          </p:cNvPr>
          <p:cNvGraphicFramePr>
            <a:graphicFrameLocks noGrp="1"/>
          </p:cNvGraphicFramePr>
          <p:nvPr>
            <p:ph idx="1"/>
            <p:extLst>
              <p:ext uri="{D42A27DB-BD31-4B8C-83A1-F6EECF244321}">
                <p14:modId xmlns:p14="http://schemas.microsoft.com/office/powerpoint/2010/main" val="1493970763"/>
              </p:ext>
            </p:extLst>
          </p:nvPr>
        </p:nvGraphicFramePr>
        <p:xfrm>
          <a:off x="1295400"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473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Empty office area">
            <a:extLst>
              <a:ext uri="{FF2B5EF4-FFF2-40B4-BE49-F238E27FC236}">
                <a16:creationId xmlns:a16="http://schemas.microsoft.com/office/drawing/2014/main" id="{740A0600-F422-5E7A-BBC0-C50083E3A450}"/>
              </a:ext>
            </a:extLst>
          </p:cNvPr>
          <p:cNvPicPr>
            <a:picLocks noChangeAspect="1"/>
          </p:cNvPicPr>
          <p:nvPr/>
        </p:nvPicPr>
        <p:blipFill rotWithShape="1">
          <a:blip r:embed="rId2">
            <a:alphaModFix amt="35000"/>
          </a:blip>
          <a:srcRect t="1447" b="14284"/>
          <a:stretch/>
        </p:blipFill>
        <p:spPr>
          <a:xfrm>
            <a:off x="20" y="10"/>
            <a:ext cx="12191980" cy="6857990"/>
          </a:xfrm>
          <a:prstGeom prst="rect">
            <a:avLst/>
          </a:prstGeom>
        </p:spPr>
      </p:pic>
      <p:sp>
        <p:nvSpPr>
          <p:cNvPr id="2" name="Title 1"/>
          <p:cNvSpPr>
            <a:spLocks noGrp="1"/>
          </p:cNvSpPr>
          <p:nvPr>
            <p:ph type="title"/>
          </p:nvPr>
        </p:nvSpPr>
        <p:spPr>
          <a:xfrm>
            <a:off x="1295402" y="982132"/>
            <a:ext cx="9601196" cy="1303867"/>
          </a:xfrm>
        </p:spPr>
        <p:txBody>
          <a:bodyPr>
            <a:normAutofit/>
          </a:bodyPr>
          <a:lstStyle/>
          <a:p>
            <a:r>
              <a:rPr lang="en-US">
                <a:solidFill>
                  <a:srgbClr val="FFFFFF"/>
                </a:solidFill>
              </a:rPr>
              <a:t>Project Approach</a:t>
            </a:r>
          </a:p>
        </p:txBody>
      </p:sp>
      <p:cxnSp>
        <p:nvCxnSpPr>
          <p:cNvPr id="16" name="Straight Connector 15">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Content Placeholder 7">
            <a:extLst>
              <a:ext uri="{FF2B5EF4-FFF2-40B4-BE49-F238E27FC236}">
                <a16:creationId xmlns:a16="http://schemas.microsoft.com/office/drawing/2014/main" id="{01A9070A-0EA1-45DC-DC5D-2736021E8A7D}"/>
              </a:ext>
            </a:extLst>
          </p:cNvPr>
          <p:cNvSpPr>
            <a:spLocks noGrp="1"/>
          </p:cNvSpPr>
          <p:nvPr>
            <p:ph idx="1"/>
          </p:nvPr>
        </p:nvSpPr>
        <p:spPr>
          <a:xfrm>
            <a:off x="1295402" y="3126559"/>
            <a:ext cx="9601196" cy="1445440"/>
          </a:xfrm>
        </p:spPr>
        <p:txBody>
          <a:bodyPr>
            <a:normAutofit/>
          </a:bodyPr>
          <a:lstStyle/>
          <a:p>
            <a:pPr marL="457200" indent="-457200">
              <a:buAutoNum type="arabicPeriod"/>
            </a:pPr>
            <a:r>
              <a:rPr lang="en-US" dirty="0">
                <a:solidFill>
                  <a:srgbClr val="FFFFFF"/>
                </a:solidFill>
              </a:rPr>
              <a:t>The project approach is going to be combination of the IBM and Johns Hopkins where Business Understanding, Analytic approach from IBM. </a:t>
            </a:r>
          </a:p>
        </p:txBody>
      </p:sp>
      <p:sp>
        <p:nvSpPr>
          <p:cNvPr id="3" name="Slide Number Placeholder 2"/>
          <p:cNvSpPr>
            <a:spLocks noGrp="1"/>
          </p:cNvSpPr>
          <p:nvPr>
            <p:ph type="sldNum" sz="quarter" idx="12"/>
          </p:nvPr>
        </p:nvSpPr>
        <p:spPr>
          <a:xfrm>
            <a:off x="10353901" y="5969000"/>
            <a:ext cx="542697" cy="279400"/>
          </a:xfrm>
        </p:spPr>
        <p:txBody>
          <a:bodyPr>
            <a:normAutofit/>
          </a:bodyPr>
          <a:lstStyle/>
          <a:p>
            <a:pPr>
              <a:spcAft>
                <a:spcPts val="600"/>
              </a:spcAft>
            </a:pPr>
            <a:fld id="{0C8EE4E3-CF32-4F0C-AF39-E804C712200F}" type="slidenum">
              <a:rPr lang="en-US">
                <a:solidFill>
                  <a:srgbClr val="FFFFFF"/>
                </a:solidFill>
              </a:rPr>
              <a:pPr>
                <a:spcAft>
                  <a:spcPts val="600"/>
                </a:spcAft>
              </a:pPr>
              <a:t>5</a:t>
            </a:fld>
            <a:endParaRPr lang="en-US">
              <a:solidFill>
                <a:srgbClr val="FFFFFF"/>
              </a:solidFill>
            </a:endParaRPr>
          </a:p>
        </p:txBody>
      </p:sp>
    </p:spTree>
    <p:extLst>
      <p:ext uri="{BB962C8B-B14F-4D97-AF65-F5344CB8AC3E}">
        <p14:creationId xmlns:p14="http://schemas.microsoft.com/office/powerpoint/2010/main" val="260027780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88"/>
            <a:ext cx="3823215"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1055599" y="1055077"/>
            <a:ext cx="2532909" cy="4794578"/>
          </a:xfrm>
        </p:spPr>
        <p:txBody>
          <a:bodyPr>
            <a:normAutofit/>
          </a:bodyPr>
          <a:lstStyle/>
          <a:p>
            <a:r>
              <a:rPr lang="en-US">
                <a:solidFill>
                  <a:srgbClr val="262626"/>
                </a:solidFill>
              </a:rPr>
              <a:t>Your Data Analytics Team</a:t>
            </a:r>
          </a:p>
        </p:txBody>
      </p:sp>
      <p:sp useBgFill="1">
        <p:nvSpPr>
          <p:cNvPr id="12" name="Rectangle 11">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053" y="-2"/>
            <a:ext cx="753994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a:xfrm>
            <a:off x="11049630" y="6379383"/>
            <a:ext cx="542697" cy="279400"/>
          </a:xfrm>
        </p:spPr>
        <p:txBody>
          <a:bodyPr>
            <a:normAutofit/>
          </a:bodyPr>
          <a:lstStyle/>
          <a:p>
            <a:pPr>
              <a:spcAft>
                <a:spcPts val="600"/>
              </a:spcAft>
            </a:pPr>
            <a:fld id="{0C8EE4E3-CF32-4F0C-AF39-E804C712200F}" type="slidenum">
              <a:rPr lang="en-US" smtClean="0"/>
              <a:pPr>
                <a:spcAft>
                  <a:spcPts val="600"/>
                </a:spcAft>
              </a:pPr>
              <a:t>6</a:t>
            </a:fld>
            <a:endParaRPr lang="en-US"/>
          </a:p>
        </p:txBody>
      </p:sp>
      <p:graphicFrame>
        <p:nvGraphicFramePr>
          <p:cNvPr id="14" name="TextBox 3">
            <a:extLst>
              <a:ext uri="{FF2B5EF4-FFF2-40B4-BE49-F238E27FC236}">
                <a16:creationId xmlns:a16="http://schemas.microsoft.com/office/drawing/2014/main" id="{146BC93D-5705-565C-4E63-67EEDDCEB264}"/>
              </a:ext>
            </a:extLst>
          </p:cNvPr>
          <p:cNvGraphicFramePr/>
          <p:nvPr>
            <p:extLst>
              <p:ext uri="{D42A27DB-BD31-4B8C-83A1-F6EECF244321}">
                <p14:modId xmlns:p14="http://schemas.microsoft.com/office/powerpoint/2010/main" val="4119196025"/>
              </p:ext>
            </p:extLst>
          </p:nvPr>
        </p:nvGraphicFramePr>
        <p:xfrm>
          <a:off x="5470072" y="804670"/>
          <a:ext cx="5914209"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7761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Sources of Data</a:t>
            </a:r>
            <a:endParaRPr lang="en-US" dirty="0"/>
          </a:p>
        </p:txBody>
      </p:sp>
      <p:sp>
        <p:nvSpPr>
          <p:cNvPr id="3" name="Slide Number Placeholder 2"/>
          <p:cNvSpPr>
            <a:spLocks noGrp="1"/>
          </p:cNvSpPr>
          <p:nvPr>
            <p:ph type="sldNum" sz="quarter" idx="12"/>
          </p:nvPr>
        </p:nvSpPr>
        <p:spPr/>
        <p:txBody>
          <a:bodyPr/>
          <a:lstStyle/>
          <a:p>
            <a:fld id="{0C8EE4E3-CF32-4F0C-AF39-E804C712200F}" type="slidenum">
              <a:rPr lang="en-US" smtClean="0"/>
              <a:t>7</a:t>
            </a:fld>
            <a:endParaRPr lang="en-US"/>
          </a:p>
        </p:txBody>
      </p:sp>
      <p:sp>
        <p:nvSpPr>
          <p:cNvPr id="4" name="TextBox 3"/>
          <p:cNvSpPr txBox="1"/>
          <p:nvPr/>
        </p:nvSpPr>
        <p:spPr>
          <a:xfrm>
            <a:off x="1229141" y="2566320"/>
            <a:ext cx="10094841" cy="2585323"/>
          </a:xfrm>
          <a:prstGeom prst="rect">
            <a:avLst/>
          </a:prstGeom>
          <a:noFill/>
        </p:spPr>
        <p:txBody>
          <a:bodyPr wrap="square" rtlCol="0">
            <a:spAutoFit/>
          </a:bodyPr>
          <a:lstStyle/>
          <a:p>
            <a:pPr marL="342900" indent="-342900">
              <a:buFont typeface="+mj-lt"/>
              <a:buAutoNum type="arabicPeriod"/>
            </a:pPr>
            <a:r>
              <a:rPr lang="en-US" i="1" dirty="0"/>
              <a:t>Sources of data- specific:  Because this is a new project, we will to be using past hiring data We will need to build database, repos, information from HR and Teams.</a:t>
            </a:r>
          </a:p>
          <a:p>
            <a:pPr marL="342900" indent="-342900">
              <a:buAutoNum type="arabicPeriod"/>
            </a:pPr>
            <a:endParaRPr lang="en-US" i="1" dirty="0"/>
          </a:p>
          <a:p>
            <a:pPr marL="342900" indent="-342900">
              <a:buAutoNum type="arabicPeriod" startAt="2"/>
            </a:pPr>
            <a:r>
              <a:rPr lang="en-US" i="1" dirty="0"/>
              <a:t>Evaluation of data-  We are going to need access to Teams and HR which have potential to be difficult, based on access to HR and Teams working with you and schedules. But once that complete, we should be enough information to cleanliness </a:t>
            </a:r>
          </a:p>
          <a:p>
            <a:r>
              <a:rPr lang="en-US" i="1" dirty="0"/>
              <a:t>       and quantity data to answer the question. </a:t>
            </a:r>
          </a:p>
          <a:p>
            <a:endParaRPr lang="en-US" i="1" dirty="0"/>
          </a:p>
          <a:p>
            <a:pPr marL="342900" indent="-342900">
              <a:buAutoNum type="arabicPeriod" startAt="3"/>
            </a:pPr>
            <a:r>
              <a:rPr lang="en-US" i="1" dirty="0"/>
              <a:t>Protection of data-  The data will not be classification but the potential we will have to deal with PII. The way we can protect </a:t>
            </a:r>
          </a:p>
          <a:p>
            <a:r>
              <a:rPr lang="en-US" i="1" dirty="0"/>
              <a:t>data is before either the data engineer or data scientist receive information for the teams or HR need to remove </a:t>
            </a:r>
            <a:r>
              <a:rPr lang="en-US" i="1" dirty="0" err="1"/>
              <a:t>Pii</a:t>
            </a:r>
            <a:r>
              <a:rPr lang="en-US" i="1" dirty="0"/>
              <a:t> information.  </a:t>
            </a:r>
          </a:p>
        </p:txBody>
      </p:sp>
    </p:spTree>
    <p:extLst>
      <p:ext uri="{BB962C8B-B14F-4D97-AF65-F5344CB8AC3E}">
        <p14:creationId xmlns:p14="http://schemas.microsoft.com/office/powerpoint/2010/main" val="2843939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7DEDD00-5E71-418B-9C3C-9B71B01822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6" name="Picture 15">
              <a:extLst>
                <a:ext uri="{FF2B5EF4-FFF2-40B4-BE49-F238E27FC236}">
                  <a16:creationId xmlns:a16="http://schemas.microsoft.com/office/drawing/2014/main" id="{F08AA894-60A7-4A09-919E-54EF7C3EC82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7" name="Rectangle 16">
              <a:extLst>
                <a:ext uri="{FF2B5EF4-FFF2-40B4-BE49-F238E27FC236}">
                  <a16:creationId xmlns:a16="http://schemas.microsoft.com/office/drawing/2014/main" id="{44680684-9D82-4E2B-9E9A-778390DA9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8" name="Picture 17">
              <a:extLst>
                <a:ext uri="{FF2B5EF4-FFF2-40B4-BE49-F238E27FC236}">
                  <a16:creationId xmlns:a16="http://schemas.microsoft.com/office/drawing/2014/main" id="{E28899EB-8201-46DC-A208-67136E6BA1A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9" name="Picture 18">
              <a:extLst>
                <a:ext uri="{FF2B5EF4-FFF2-40B4-BE49-F238E27FC236}">
                  <a16:creationId xmlns:a16="http://schemas.microsoft.com/office/drawing/2014/main" id="{58681DBB-DB5A-40DF-8333-C7E1C945B5B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1295402" y="982132"/>
            <a:ext cx="9601196" cy="1303867"/>
          </a:xfrm>
        </p:spPr>
        <p:txBody>
          <a:bodyPr>
            <a:normAutofit/>
          </a:bodyPr>
          <a:lstStyle/>
          <a:p>
            <a:r>
              <a:rPr lang="en-US">
                <a:solidFill>
                  <a:srgbClr val="262626"/>
                </a:solidFill>
              </a:rPr>
              <a:t>Methods and Tools</a:t>
            </a:r>
          </a:p>
        </p:txBody>
      </p:sp>
      <p:sp>
        <p:nvSpPr>
          <p:cNvPr id="3" name="Slide Number Placeholder 2"/>
          <p:cNvSpPr>
            <a:spLocks noGrp="1"/>
          </p:cNvSpPr>
          <p:nvPr>
            <p:ph type="sldNum" sz="quarter" idx="12"/>
          </p:nvPr>
        </p:nvSpPr>
        <p:spPr>
          <a:xfrm>
            <a:off x="10353901" y="5969000"/>
            <a:ext cx="542697" cy="279400"/>
          </a:xfrm>
        </p:spPr>
        <p:txBody>
          <a:bodyPr>
            <a:normAutofit/>
          </a:bodyPr>
          <a:lstStyle/>
          <a:p>
            <a:pPr>
              <a:spcAft>
                <a:spcPts val="600"/>
              </a:spcAft>
            </a:pPr>
            <a:fld id="{0C8EE4E3-CF32-4F0C-AF39-E804C712200F}" type="slidenum">
              <a:rPr lang="en-US">
                <a:solidFill>
                  <a:srgbClr val="000000"/>
                </a:solidFill>
              </a:rPr>
              <a:pPr>
                <a:spcAft>
                  <a:spcPts val="600"/>
                </a:spcAft>
              </a:pPr>
              <a:t>8</a:t>
            </a:fld>
            <a:endParaRPr lang="en-US">
              <a:solidFill>
                <a:srgbClr val="000000"/>
              </a:solidFill>
            </a:endParaRPr>
          </a:p>
        </p:txBody>
      </p:sp>
      <p:graphicFrame>
        <p:nvGraphicFramePr>
          <p:cNvPr id="11" name="Content Placeholder 8">
            <a:extLst>
              <a:ext uri="{FF2B5EF4-FFF2-40B4-BE49-F238E27FC236}">
                <a16:creationId xmlns:a16="http://schemas.microsoft.com/office/drawing/2014/main" id="{9933EC27-1425-099B-911B-233B708C7A83}"/>
              </a:ext>
            </a:extLst>
          </p:cNvPr>
          <p:cNvGraphicFramePr>
            <a:graphicFrameLocks noGrp="1"/>
          </p:cNvGraphicFramePr>
          <p:nvPr>
            <p:ph idx="1"/>
            <p:extLst>
              <p:ext uri="{D42A27DB-BD31-4B8C-83A1-F6EECF244321}">
                <p14:modId xmlns:p14="http://schemas.microsoft.com/office/powerpoint/2010/main" val="2779252976"/>
              </p:ext>
            </p:extLst>
          </p:nvPr>
        </p:nvGraphicFramePr>
        <p:xfrm>
          <a:off x="1295401" y="2675822"/>
          <a:ext cx="9601197" cy="29856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43501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Project Timeline and Resource Requirements</a:t>
            </a:r>
          </a:p>
        </p:txBody>
      </p:sp>
      <p:sp>
        <p:nvSpPr>
          <p:cNvPr id="5" name="Content Placeholder 4">
            <a:extLst>
              <a:ext uri="{FF2B5EF4-FFF2-40B4-BE49-F238E27FC236}">
                <a16:creationId xmlns:a16="http://schemas.microsoft.com/office/drawing/2014/main" id="{505AEBE7-4C54-5D0B-723C-CF34540C2264}"/>
              </a:ext>
            </a:extLst>
          </p:cNvPr>
          <p:cNvSpPr>
            <a:spLocks noGrp="1"/>
          </p:cNvSpPr>
          <p:nvPr>
            <p:ph idx="1"/>
          </p:nvPr>
        </p:nvSpPr>
        <p:spPr/>
        <p:txBody>
          <a:bodyPr>
            <a:normAutofit lnSpcReduction="10000"/>
          </a:bodyPr>
          <a:lstStyle/>
          <a:p>
            <a:r>
              <a:rPr lang="en-US" dirty="0"/>
              <a:t>From Problem to approach: 2-4 Weeks</a:t>
            </a:r>
          </a:p>
          <a:p>
            <a:r>
              <a:rPr lang="en-US" dirty="0"/>
              <a:t>Working with the data: 3-6 Months</a:t>
            </a:r>
          </a:p>
          <a:p>
            <a:r>
              <a:rPr lang="en-US" dirty="0"/>
              <a:t>Deriving the answer: 1-2 Months </a:t>
            </a:r>
          </a:p>
          <a:p>
            <a:r>
              <a:rPr lang="en-US" dirty="0"/>
              <a:t>Data Engineer and Science: 7-12 member on a team</a:t>
            </a:r>
          </a:p>
          <a:p>
            <a:r>
              <a:rPr lang="en-US" dirty="0"/>
              <a:t>Budget $4.2M – Work hours, training, software and hardware tools</a:t>
            </a:r>
          </a:p>
          <a:p>
            <a:r>
              <a:rPr lang="en-US" dirty="0"/>
              <a:t>Man Hours: 6,480 hour per each team member estimate total: 77,760 hours of work.</a:t>
            </a:r>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fld id="{0C8EE4E3-CF32-4F0C-AF39-E804C712200F}" type="slidenum">
              <a:rPr lang="en-US" smtClean="0"/>
              <a:t>9</a:t>
            </a:fld>
            <a:endParaRPr lang="en-US"/>
          </a:p>
        </p:txBody>
      </p:sp>
    </p:spTree>
    <p:extLst>
      <p:ext uri="{BB962C8B-B14F-4D97-AF65-F5344CB8AC3E}">
        <p14:creationId xmlns:p14="http://schemas.microsoft.com/office/powerpoint/2010/main" val="550367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586635"/>
            <a:ext cx="9601196" cy="1303867"/>
          </a:xfrm>
        </p:spPr>
        <p:txBody>
          <a:bodyPr/>
          <a:lstStyle/>
          <a:p>
            <a:r>
              <a:rPr lang="en-US" dirty="0"/>
              <a:t>Credential Feedback</a:t>
            </a:r>
          </a:p>
        </p:txBody>
      </p:sp>
      <p:sp>
        <p:nvSpPr>
          <p:cNvPr id="3" name="Slide Number Placeholder 2"/>
          <p:cNvSpPr>
            <a:spLocks noGrp="1"/>
          </p:cNvSpPr>
          <p:nvPr>
            <p:ph type="sldNum" sz="quarter" idx="12"/>
          </p:nvPr>
        </p:nvSpPr>
        <p:spPr/>
        <p:txBody>
          <a:bodyPr/>
          <a:lstStyle/>
          <a:p>
            <a:fld id="{0C8EE4E3-CF32-4F0C-AF39-E804C712200F}" type="slidenum">
              <a:rPr lang="en-US" smtClean="0"/>
              <a:t>10</a:t>
            </a:fld>
            <a:endParaRPr lang="en-US"/>
          </a:p>
        </p:txBody>
      </p:sp>
      <p:sp>
        <p:nvSpPr>
          <p:cNvPr id="4" name="TextBox 3"/>
          <p:cNvSpPr txBox="1"/>
          <p:nvPr/>
        </p:nvSpPr>
        <p:spPr>
          <a:xfrm>
            <a:off x="925792" y="1584385"/>
            <a:ext cx="10687050" cy="4524315"/>
          </a:xfrm>
          <a:prstGeom prst="rect">
            <a:avLst/>
          </a:prstGeom>
          <a:noFill/>
        </p:spPr>
        <p:txBody>
          <a:bodyPr wrap="square" rtlCol="0">
            <a:spAutoFit/>
          </a:bodyPr>
          <a:lstStyle/>
          <a:p>
            <a:r>
              <a:rPr lang="en-US" sz="1600" i="1" dirty="0"/>
              <a:t>If you have gotten this far in earning your credential, you have done fantastic  and put in an awful lot of work.</a:t>
            </a:r>
          </a:p>
          <a:p>
            <a:endParaRPr lang="en-US" sz="1600" i="1" dirty="0"/>
          </a:p>
          <a:p>
            <a:endParaRPr lang="en-US" sz="1600" i="1" dirty="0"/>
          </a:p>
          <a:p>
            <a:r>
              <a:rPr lang="en-US" sz="1600" i="1" dirty="0"/>
              <a:t> On this slide, please provide some feedback to the instructors so that they can improve</a:t>
            </a:r>
          </a:p>
          <a:p>
            <a:r>
              <a:rPr lang="en-US" sz="1600" i="1" dirty="0"/>
              <a:t>the experience for those who follow you</a:t>
            </a:r>
          </a:p>
          <a:p>
            <a:r>
              <a:rPr lang="en-US" sz="1600" i="1" dirty="0">
                <a:highlight>
                  <a:srgbClr val="FFFF00"/>
                </a:highlight>
              </a:rPr>
              <a:t>My recommendation by earning credential show some of the potential job opportunity, as well as job opportunity in the data science world.  Show more teams used  data science in there day to day life.</a:t>
            </a:r>
          </a:p>
          <a:p>
            <a:endParaRPr lang="en-US" sz="1600" i="1" dirty="0"/>
          </a:p>
          <a:p>
            <a:r>
              <a:rPr lang="en-US" sz="1600" i="1" dirty="0"/>
              <a:t>Also, Please answer the following question:</a:t>
            </a:r>
          </a:p>
          <a:p>
            <a:endParaRPr lang="en-US" sz="1600" i="1" dirty="0"/>
          </a:p>
          <a:p>
            <a:r>
              <a:rPr lang="en-US" sz="1600" i="1" dirty="0"/>
              <a:t>The cost of this credential was about $450 per student.</a:t>
            </a:r>
          </a:p>
          <a:p>
            <a:r>
              <a:rPr lang="en-US" sz="1600" i="1" dirty="0"/>
              <a:t>Reflecting on what I have learned, how I plan to use it and the cost of the credential, I believe the credential is worth:</a:t>
            </a:r>
          </a:p>
          <a:p>
            <a:endParaRPr lang="en-US" sz="1600" i="1" dirty="0"/>
          </a:p>
          <a:p>
            <a:pPr marL="342900" indent="-342900">
              <a:buAutoNum type="alphaLcPeriod"/>
            </a:pPr>
            <a:r>
              <a:rPr lang="en-US" sz="1600" i="1" dirty="0"/>
              <a:t>Significantly more than the cost</a:t>
            </a:r>
          </a:p>
          <a:p>
            <a:pPr marL="342900" indent="-342900">
              <a:buAutoNum type="alphaLcPeriod"/>
            </a:pPr>
            <a:r>
              <a:rPr lang="en-US" sz="1600" i="1" dirty="0">
                <a:highlight>
                  <a:srgbClr val="FFFF00"/>
                </a:highlight>
              </a:rPr>
              <a:t>Somewhat more than the cost</a:t>
            </a:r>
          </a:p>
          <a:p>
            <a:pPr marL="342900" indent="-342900">
              <a:buAutoNum type="alphaLcPeriod"/>
            </a:pPr>
            <a:r>
              <a:rPr lang="en-US" sz="1600" i="1" dirty="0"/>
              <a:t>About the cost</a:t>
            </a:r>
          </a:p>
          <a:p>
            <a:pPr marL="342900" indent="-342900">
              <a:buAutoNum type="alphaLcPeriod"/>
            </a:pPr>
            <a:r>
              <a:rPr lang="en-US" sz="1600" i="1" dirty="0"/>
              <a:t>Somewhat less than the cost</a:t>
            </a:r>
          </a:p>
          <a:p>
            <a:pPr marL="342900" indent="-342900">
              <a:buAutoNum type="alphaLcPeriod"/>
            </a:pPr>
            <a:r>
              <a:rPr lang="en-US" sz="1600" i="1" dirty="0"/>
              <a:t>Significantly less than the cost</a:t>
            </a:r>
          </a:p>
        </p:txBody>
      </p:sp>
      <p:sp>
        <p:nvSpPr>
          <p:cNvPr id="5" name="TextBox 4"/>
          <p:cNvSpPr txBox="1"/>
          <p:nvPr/>
        </p:nvSpPr>
        <p:spPr>
          <a:xfrm>
            <a:off x="4895850" y="6171684"/>
            <a:ext cx="1022588" cy="369332"/>
          </a:xfrm>
          <a:prstGeom prst="rect">
            <a:avLst/>
          </a:prstGeom>
          <a:noFill/>
        </p:spPr>
        <p:txBody>
          <a:bodyPr wrap="none" rtlCol="0">
            <a:spAutoFit/>
          </a:bodyPr>
          <a:lstStyle/>
          <a:p>
            <a:r>
              <a:rPr lang="en-US" dirty="0"/>
              <a:t>THANKS!</a:t>
            </a:r>
          </a:p>
        </p:txBody>
      </p:sp>
    </p:spTree>
    <p:extLst>
      <p:ext uri="{BB962C8B-B14F-4D97-AF65-F5344CB8AC3E}">
        <p14:creationId xmlns:p14="http://schemas.microsoft.com/office/powerpoint/2010/main" val="390566100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8116EAF376D64091D4288794FAF19F" ma:contentTypeVersion="20" ma:contentTypeDescription="Create a new document." ma:contentTypeScope="" ma:versionID="a9c216891a060d92d405172b9333a39b">
  <xsd:schema xmlns:xsd="http://www.w3.org/2001/XMLSchema" xmlns:xs="http://www.w3.org/2001/XMLSchema" xmlns:p="http://schemas.microsoft.com/office/2006/metadata/properties" xmlns:ns2="df547df3-e172-47bd-8118-353168ac0d77" xmlns:ns3="83c24e8c-a064-4267-9933-550a3a8a59e5" targetNamespace="http://schemas.microsoft.com/office/2006/metadata/properties" ma:root="true" ma:fieldsID="1029e1f8999567e6ee51e7cfa00d0786" ns2:_="" ns3:_="">
    <xsd:import namespace="df547df3-e172-47bd-8118-353168ac0d77"/>
    <xsd:import namespace="83c24e8c-a064-4267-9933-550a3a8a59e5"/>
    <xsd:element name="properties">
      <xsd:complexType>
        <xsd:sequence>
          <xsd:element name="documentManagement">
            <xsd:complexType>
              <xsd:all>
                <xsd:element ref="ns2:Status" minOccurs="0"/>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547df3-e172-47bd-8118-353168ac0d77" elementFormDefault="qualified">
    <xsd:import namespace="http://schemas.microsoft.com/office/2006/documentManagement/types"/>
    <xsd:import namespace="http://schemas.microsoft.com/office/infopath/2007/PartnerControls"/>
    <xsd:element name="Status" ma:index="3" nillable="true" ma:displayName="Status" ma:default="In Review" ma:description="Select Approved or In Review" ma:format="Dropdown" ma:internalName="Status">
      <xsd:simpleType>
        <xsd:restriction base="dms:Choice">
          <xsd:enumeration value="N/A"/>
          <xsd:enumeration value="Not an option"/>
          <xsd:enumeration value="In Progress"/>
          <xsd:enumeration value="In Review"/>
          <xsd:enumeration value="Approved"/>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hidden="true" ma:internalName="MediaServiceAutoTags" ma:readOnly="true">
      <xsd:simpleType>
        <xsd:restriction base="dms:Text"/>
      </xsd:simpleType>
    </xsd:element>
    <xsd:element name="MediaServiceOCR" ma:index="14" nillable="true" ma:displayName="Extracted Text" ma:hidden="true" ma:internalName="MediaServiceOCR"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28d27d3-1482-4e5e-9c21-4efed540c9e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c24e8c-a064-4267-9933-550a3a8a59e5" elementFormDefault="qualified">
    <xsd:import namespace="http://schemas.microsoft.com/office/2006/documentManagement/types"/>
    <xsd:import namespace="http://schemas.microsoft.com/office/infopath/2007/PartnerControls"/>
    <xsd:element name="SharedWithUsers" ma:index="1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hidden="true" ma:internalName="SharedWithDetails" ma:readOnly="true">
      <xsd:simpleType>
        <xsd:restriction base="dms:Note"/>
      </xsd:simpleType>
    </xsd:element>
    <xsd:element name="TaxCatchAll" ma:index="23" nillable="true" ma:displayName="Taxonomy Catch All Column" ma:hidden="true" ma:list="{77ed3fb3-8557-4a65-a9ba-ed1704b6e6b5}" ma:internalName="TaxCatchAll" ma:readOnly="false" ma:showField="CatchAllData" ma:web="83c24e8c-a064-4267-9933-550a3a8a59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3c24e8c-a064-4267-9933-550a3a8a59e5" xsi:nil="true"/>
    <Status xmlns="df547df3-e172-47bd-8118-353168ac0d77">In Review</Status>
    <lcf76f155ced4ddcb4097134ff3c332f xmlns="df547df3-e172-47bd-8118-353168ac0d77">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D1A1EF-54A2-4BAA-AC93-AAD5CC2333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547df3-e172-47bd-8118-353168ac0d77"/>
    <ds:schemaRef ds:uri="83c24e8c-a064-4267-9933-550a3a8a59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62A2709-F189-450E-AC7D-690303A58862}">
  <ds:schemaRefs>
    <ds:schemaRef ds:uri="http://schemas.microsoft.com/office/2006/metadata/properties"/>
    <ds:schemaRef ds:uri="http://schemas.microsoft.com/office/infopath/2007/PartnerControls"/>
    <ds:schemaRef ds:uri="83c24e8c-a064-4267-9933-550a3a8a59e5"/>
    <ds:schemaRef ds:uri="df547df3-e172-47bd-8118-353168ac0d77"/>
  </ds:schemaRefs>
</ds:datastoreItem>
</file>

<file path=customXml/itemProps3.xml><?xml version="1.0" encoding="utf-8"?>
<ds:datastoreItem xmlns:ds="http://schemas.openxmlformats.org/officeDocument/2006/customXml" ds:itemID="{0B625A1C-0C39-4FB9-89FF-43A6E385B762}">
  <ds:schemaRefs>
    <ds:schemaRef ds:uri="http://schemas.microsoft.com/sharepoint/v3/contenttype/forms"/>
  </ds:schemaRefs>
</ds:datastoreItem>
</file>

<file path=docMetadata/LabelInfo.xml><?xml version="1.0" encoding="utf-8"?>
<clbl:labelList xmlns:clbl="http://schemas.microsoft.com/office/2020/mipLabelMetadata">
  <clbl:label id="{b27ac744-d744-4b94-baa9-948b89b4017a}" enabled="1" method="Standard" siteId="{e3333e00-c877-4b87-b6ad-45e942de1750}" contentBits="0" removed="0"/>
</clbl:labelList>
</file>

<file path=docProps/app.xml><?xml version="1.0" encoding="utf-8"?>
<Properties xmlns="http://schemas.openxmlformats.org/officeDocument/2006/extended-properties" xmlns:vt="http://schemas.openxmlformats.org/officeDocument/2006/docPropsVTypes">
  <Template>Organic</Template>
  <TotalTime>1577</TotalTime>
  <Words>694</Words>
  <Application>Microsoft Office PowerPoint</Application>
  <PresentationFormat>Widescreen</PresentationFormat>
  <Paragraphs>79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Garamond</vt:lpstr>
      <vt:lpstr>Organic</vt:lpstr>
      <vt:lpstr>NAWCWD Strong</vt:lpstr>
      <vt:lpstr>Project outline </vt:lpstr>
      <vt:lpstr>Problem Statement</vt:lpstr>
      <vt:lpstr>Background and Context</vt:lpstr>
      <vt:lpstr>Project Approach</vt:lpstr>
      <vt:lpstr>Your Data Analytics Team</vt:lpstr>
      <vt:lpstr>Sources of Data</vt:lpstr>
      <vt:lpstr>Methods and Tools</vt:lpstr>
      <vt:lpstr>Project Timeline and Resource Requirements</vt:lpstr>
      <vt:lpstr>Credential Feedback</vt:lpstr>
    </vt:vector>
  </TitlesOfParts>
  <Company>Defense Acquisition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Pearson, David</dc:creator>
  <cp:lastModifiedBy>Clarke, Dwayne A CIV USN NAWCWD (USA)</cp:lastModifiedBy>
  <cp:revision>24</cp:revision>
  <dcterms:created xsi:type="dcterms:W3CDTF">2020-06-11T12:33:22Z</dcterms:created>
  <dcterms:modified xsi:type="dcterms:W3CDTF">2026-04-08T03:33:29Z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0x0101003F8116EAF376D64091D4288794FAF19F</vt:lpwstr>
  </property>
</Properties>
</file>